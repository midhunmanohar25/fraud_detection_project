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tags+xml" PartName="/ppt/tags/tag3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x-fontdata" PartName="/ppt/fonts/font8.fntdata"/>
  <Override ContentType="application/x-fontdata" PartName="/ppt/fonts/font9.fntdata"/>
  <Override ContentType="application/vnd.openxmlformats-officedocument.presentationml.tags+xml" PartName="/ppt/tags/tag4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/ppt/media/image9.png" Type="http://schemas.openxmlformats.org/officeDocument/2006/relationships/image"/><Relationship Id="rId10" Target="/ppt/media/image10.png" Type="http://schemas.openxmlformats.org/officeDocument/2006/relationships/image"/><Relationship Id="rId11" Target="ppt/media/img_cc_black.png" Type="http://schemas.openxmlformats.org/officeDocument/2006/relationships/image"/><Relationship Id="rId12" Target="ppt/presentation.xml" Type="http://schemas.openxmlformats.org/officeDocument/2006/relationships/officeDocument"/><Relationship Id="rId13" Target="docProps/core.xml" Type="http://schemas.openxmlformats.org/package/2006/relationships/metadata/core-properties"/><Relationship Id="rId14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9144000" cy="5143500"/>
  <p:embeddedFontLst>
    <p:embeddedFont>
      <p:font typeface="Cabin"/>
      <p:regular r:id="rId21"/>
      <p:bold r:id="rId22"/>
    </p:embeddedFont>
    <p:embeddedFont>
      <p:font typeface="Lato"/>
      <p:regular r:id="rId23"/>
      <p:bold r:id="rId25"/>
    </p:embeddedFont>
    <p:embeddedFont>
      <p:font typeface="Open Sans-demi_bold"/>
      <p:regular r:id="rId27"/>
    </p:embeddedFont>
    <p:embeddedFont>
      <p:font typeface="Open Sans"/>
      <p:regular r:id="rId26"/>
      <p:bold r:id="rId28"/>
    </p:embeddedFont>
    <p:embeddedFont>
      <p:font typeface="Alegreya"/>
      <p:bold r:id="rId29"/>
    </p:embeddedFont>
  </p:embeddedFontLst>
  <p:custDataLst>
    <p:tags r:id="rId30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>
  <a:tblStyle styleId="{69FC7C8A-B2E3-4495-BCF1-C7CE0A01A532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slides/slide11.xml" Type="http://schemas.openxmlformats.org/officeDocument/2006/relationships/slide"/><Relationship Id="rId16" Target="slides/slide12.xml" Type="http://schemas.openxmlformats.org/officeDocument/2006/relationships/slide"/><Relationship Id="rId17" Target="slides/slide13.xml" Type="http://schemas.openxmlformats.org/officeDocument/2006/relationships/slide"/><Relationship Id="rId18" Target="slides/slide14.xml" Type="http://schemas.openxmlformats.org/officeDocument/2006/relationships/slide"/><Relationship Id="rId19" Target="slides/slide15.xml" Type="http://schemas.openxmlformats.org/officeDocument/2006/relationships/slide"/><Relationship Id="rId20" Target="tableStyles.xml" Type="http://schemas.openxmlformats.org/officeDocument/2006/relationships/tableStyles"/><Relationship Id="rId21" Target="fonts/font1.fntdata" Type="http://schemas.openxmlformats.org/officeDocument/2006/relationships/font"/><Relationship Id="rId22" Target="fonts/font2.fntdata" Type="http://schemas.openxmlformats.org/officeDocument/2006/relationships/font"/><Relationship Id="rId23" Target="fonts/font3.fntdata" Type="http://schemas.openxmlformats.org/officeDocument/2006/relationships/font"/><Relationship Id="rId24" Target="fonts/font4.fntdata" Type="http://schemas.openxmlformats.org/officeDocument/2006/relationships/font"/><Relationship Id="rId25" Target="fonts/font5.fntdata" Type="http://schemas.openxmlformats.org/officeDocument/2006/relationships/font"/><Relationship Id="rId26" Target="fonts/font6.fntdata" Type="http://schemas.openxmlformats.org/officeDocument/2006/relationships/font"/><Relationship Id="rId27" Target="fonts/font7.fntdata" Type="http://schemas.openxmlformats.org/officeDocument/2006/relationships/font"/><Relationship Id="rId28" Target="fonts/font8.fntdata" Type="http://schemas.openxmlformats.org/officeDocument/2006/relationships/font"/><Relationship Id="rId29" Target="fonts/font9.fntdata" Type="http://schemas.openxmlformats.org/officeDocument/2006/relationships/font"/><Relationship Id="rId30" Target="tags/tag4.xml" Type="http://schemas.openxmlformats.org/officeDocument/2006/relationships/tags"/><Relationship Id="rId31" Target="presProps.xml" Type="http://schemas.openxmlformats.org/officeDocument/2006/relationships/presProps"/><Relationship Id="rId32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3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3069114-A34C-41C1-B1F0-5B7721B900EF}">
                <a16:creationId xmlns:a16="http://schemas.microsoft.com/office/drawing/2010/main" id="{DD852F4F-C1AB-494C-AE72-FA5C871A460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4036980" y="1575006"/>
            <a:ext cx="4191000" cy="666750"/>
          </a:xfrm>
          <a:prstGeom prst="rect">
            <a:avLst/>
          </a:prstGeom>
        </p:spPr>
        <p:txBody>
          <a:bodyPr anchor="b" rtlCol="0"/>
          <a:lstStyle>
            <a:lvl1pPr algn="ctr"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false" id="3" name="Subtitle 2">
            <a:extLst>
              <a:ext uri="{334C5262-5905-432A-8BD6-0F6CC5065D7B}">
                <a16:creationId xmlns:a16="http://schemas.microsoft.com/office/drawing/2010/main" id="{D40E1EE8-2583-4462-BD74-BF129DE18325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4023083" y="2457450"/>
            <a:ext cx="4191000" cy="476250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lvl="0">
              <a:buNone/>
              <a:defRPr dirty="0" lang="en-US" sz="1400"/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E470EFB2-92B9-4D0B-8C16-2F18EED7C607}">
                <a16:creationId xmlns:a16="http://schemas.microsoft.com/office/drawing/2010/main" id="{3459091E-022B-417E-9A10-CB2B235D413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93E18CDC-0640-4DD7-9DDE-1CBC06C013E0}">
                <a16:creationId xmlns:a16="http://schemas.microsoft.com/office/drawing/2010/main" id="{8B417DD4-B14A-4B9B-AE28-AD883D1BDC5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E58A5E64-3ECA-45A3-B0C2-04025413F672}">
                <a16:creationId xmlns:a16="http://schemas.microsoft.com/office/drawing/2010/main" id="{F371516A-63CE-4DA7-A23A-41D96C45D7B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7" name="shape-BE2F">
            <a:extLst>
              <a:ext uri="{196CF5B0-1AB1-4456-84BB-6541E6CD6422}">
                <a16:creationId xmlns:a16="http://schemas.microsoft.com/office/drawing/2010/main" id="{9D770976-29BA-43CE-9B77-54BE24818197}"/>
              </a:ext>
            </a:extLst>
          </p:cNvPr>
          <p:cNvSpPr/>
          <p:nvPr/>
        </p:nvSpPr>
        <p:spPr>
          <a:xfrm rot="0">
            <a:off x="0" y="-866"/>
            <a:ext cx="4294060" cy="5143500"/>
          </a:xfrm>
          <a:custGeom>
            <a:avLst/>
            <a:gdLst/>
            <a:ahLst/>
            <a:cxnLst/>
            <a:rect b="b" l="0" r="r" t="0"/>
            <a:pathLst>
              <a:path h="5143500" w="4294061">
                <a:moveTo>
                  <a:pt x="4294061" y="5143500"/>
                </a:moveTo>
                <a:lnTo>
                  <a:pt x="2416016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shape-9B10">
            <a:extLst>
              <a:ext uri="{31B2765C-0878-4EB0-927F-629BFAD5D88F}">
                <a16:creationId xmlns:a16="http://schemas.microsoft.com/office/drawing/2010/main" id="{0B8E4377-F060-40BB-B439-C947D688A196}"/>
              </a:ext>
            </a:extLst>
          </p:cNvPr>
          <p:cNvSpPr/>
          <p:nvPr/>
        </p:nvSpPr>
        <p:spPr>
          <a:xfrm rot="0">
            <a:off x="3388709" y="3791321"/>
            <a:ext cx="739997" cy="1351311"/>
          </a:xfrm>
          <a:custGeom>
            <a:avLst/>
            <a:gdLst/>
            <a:ahLst/>
            <a:cxnLst/>
            <a:rect b="b" l="0" r="r" t="0"/>
            <a:pathLst>
              <a:path h="1351312" w="739997">
                <a:moveTo>
                  <a:pt x="556641" y="1351312"/>
                </a:moveTo>
                <a:lnTo>
                  <a:pt x="0" y="0"/>
                </a:lnTo>
                <a:lnTo>
                  <a:pt x="739997" y="1351312"/>
                </a:lnTo>
              </a:path>
            </a:pathLst>
          </a:custGeom>
          <a:solidFill>
            <a:srgbClr val="4d4346"/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hape-6CF3">
            <a:extLst>
              <a:ext uri="{1F1FFE89-DBC1-4DBD-BABC-CC2FBEE1AAA4}">
                <a16:creationId xmlns:a16="http://schemas.microsoft.com/office/drawing/2010/main" id="{EE47CB55-8AB9-42BF-9CEF-BB9173AC8929}"/>
              </a:ext>
            </a:extLst>
          </p:cNvPr>
          <p:cNvSpPr/>
          <p:nvPr/>
        </p:nvSpPr>
        <p:spPr>
          <a:xfrm rot="0">
            <a:off x="3388709" y="3791321"/>
            <a:ext cx="949261" cy="1351311"/>
          </a:xfrm>
          <a:custGeom>
            <a:avLst/>
            <a:gdLst/>
            <a:ahLst/>
            <a:cxnLst/>
            <a:rect b="b" l="0" r="r" t="0"/>
            <a:pathLst>
              <a:path h="1351312" w="949262">
                <a:moveTo>
                  <a:pt x="949262" y="1351312"/>
                </a:moveTo>
                <a:lnTo>
                  <a:pt x="0" y="0"/>
                </a:lnTo>
                <a:lnTo>
                  <a:pt x="739997" y="1351312"/>
                </a:lnTo>
              </a:path>
            </a:pathLst>
          </a:custGeom>
          <a:solidFill>
            <a:srgbClr val="6b5e62"/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0" name="shape-4256">
            <a:extLst>
              <a:ext uri="{191E6BEA-AC1B-4B62-B56B-236B9F9FF1CB}">
                <a16:creationId xmlns:a16="http://schemas.microsoft.com/office/drawing/2010/main" id="{1D2FE2E3-1D99-4850-8E6D-788BBE55D48D}"/>
              </a:ext>
            </a:extLst>
          </p:cNvPr>
          <p:cNvSpPr/>
          <p:nvPr/>
        </p:nvSpPr>
        <p:spPr>
          <a:xfrm rot="0">
            <a:off x="1464564" y="-866"/>
            <a:ext cx="739997" cy="1351311"/>
          </a:xfrm>
          <a:custGeom>
            <a:avLst/>
            <a:gdLst/>
            <a:ahLst/>
            <a:cxnLst/>
            <a:rect b="b" l="0" r="r" t="0"/>
            <a:pathLst>
              <a:path h="1351312" w="739997">
                <a:moveTo>
                  <a:pt x="183356" y="0"/>
                </a:moveTo>
                <a:lnTo>
                  <a:pt x="739997" y="1351312"/>
                </a:lnTo>
                <a:lnTo>
                  <a:pt x="0" y="0"/>
                </a:lnTo>
                <a:lnTo>
                  <a:pt x="183356" y="0"/>
                </a:lnTo>
                <a:close/>
              </a:path>
            </a:pathLst>
          </a:custGeom>
          <a:solidFill>
            <a:srgbClr val="6b5e62"/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1" name="shape-EBCF">
            <a:extLst>
              <a:ext uri="{F6752E10-826E-47C0-BFDE-D8AAF72CB136}">
                <a16:creationId xmlns:a16="http://schemas.microsoft.com/office/drawing/2010/main" id="{E281AF59-16E0-4A44-B14A-17EBA08C6B91}"/>
              </a:ext>
            </a:extLst>
          </p:cNvPr>
          <p:cNvSpPr/>
          <p:nvPr/>
        </p:nvSpPr>
        <p:spPr>
          <a:xfrm rot="0">
            <a:off x="1255299" y="-866"/>
            <a:ext cx="949261" cy="1351311"/>
          </a:xfrm>
          <a:custGeom>
            <a:avLst/>
            <a:gdLst/>
            <a:ahLst/>
            <a:cxnLst/>
            <a:rect b="b" l="0" r="r" t="0"/>
            <a:pathLst>
              <a:path h="1351312" w="949262">
                <a:moveTo>
                  <a:pt x="0" y="0"/>
                </a:moveTo>
                <a:lnTo>
                  <a:pt x="949262" y="1351312"/>
                </a:lnTo>
                <a:lnTo>
                  <a:pt x="209264" y="0"/>
                </a:lnTo>
                <a:lnTo>
                  <a:pt x="0" y="0"/>
                </a:lnTo>
                <a:close/>
              </a:path>
            </a:pathLst>
          </a:custGeom>
          <a:solidFill>
            <a:srgbClr val="4d4346"/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2" name="shape-AAAD">
            <a:extLst>
              <a:ext uri="{D58D608A-E581-42AC-899C-F8F0D30C213A}">
                <a16:creationId xmlns:a16="http://schemas.microsoft.com/office/drawing/2010/main" id="{87B0090C-F06C-41AF-8827-E3951645FE5D}"/>
              </a:ext>
            </a:extLst>
          </p:cNvPr>
          <p:cNvSpPr/>
          <p:nvPr/>
        </p:nvSpPr>
        <p:spPr>
          <a:xfrm rot="0">
            <a:off x="1978152" y="-866"/>
            <a:ext cx="1658683" cy="3365373"/>
          </a:xfrm>
          <a:custGeom>
            <a:avLst/>
            <a:gdLst/>
            <a:ahLst/>
            <a:cxnLst/>
            <a:rect b="b" l="0" r="r" t="0"/>
            <a:pathLst>
              <a:path h="3365373" w="1658684">
                <a:moveTo>
                  <a:pt x="1658684" y="3365373"/>
                </a:moveTo>
                <a:lnTo>
                  <a:pt x="437864" y="0"/>
                </a:lnTo>
                <a:lnTo>
                  <a:pt x="0" y="0"/>
                </a:lnTo>
                <a:lnTo>
                  <a:pt x="1658684" y="336537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3" name="shape-255A">
            <a:extLst>
              <a:ext uri="{8182443B-D748-47B3-9AC9-C115A9D2C317}">
                <a16:creationId xmlns:a16="http://schemas.microsoft.com/office/drawing/2010/main" id="{A3183F7C-C210-4188-8EA6-B4D889B6E1C3}"/>
              </a:ext>
            </a:extLst>
          </p:cNvPr>
          <p:cNvSpPr/>
          <p:nvPr/>
        </p:nvSpPr>
        <p:spPr>
          <a:xfrm rot="0">
            <a:off x="2416016" y="-866"/>
            <a:ext cx="1220819" cy="3365373"/>
          </a:xfrm>
          <a:custGeom>
            <a:avLst/>
            <a:gdLst/>
            <a:ahLst/>
            <a:cxnLst/>
            <a:rect b="b" l="0" r="r" t="0"/>
            <a:pathLst>
              <a:path h="3365373" w="1220819">
                <a:moveTo>
                  <a:pt x="1220819" y="3365373"/>
                </a:moveTo>
                <a:lnTo>
                  <a:pt x="0" y="0"/>
                </a:lnTo>
                <a:lnTo>
                  <a:pt x="391478" y="0"/>
                </a:lnTo>
                <a:lnTo>
                  <a:pt x="1220819" y="336537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4" name="">
            <a:extLst>
              <a:ext uri="{FBFF259E-CC65-4E4C-9CE9-3986FADEDAEA}">
                <a16:creationId xmlns:a16="http://schemas.microsoft.com/office/drawing/2010/main" id="{ABB3392D-7AFD-4F55-B857-3B2DCE91B7D7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7101192" y="1159764"/>
            <a:ext cx="1681734" cy="1497234"/>
            <a:chOff x="0" y="0"/>
            <a:chExt cx="1681734" cy="1497234"/>
          </a:xfrm>
        </p:grpSpPr>
        <p:grpSp>
          <p:nvGrpSpPr>
            <p:cNvPr id="15" name="shape-5FAC">
              <a:extLst>
                <a:ext uri="{2A48D181-69E3-4110-89EC-976E1D1AF4A9}">
                  <a16:creationId xmlns:a16="http://schemas.microsoft.com/office/drawing/2010/main" id="{92F9389F-F999-4AB9-BEBC-267AFD199397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6" name="shape-EE30">
                <a:extLst>
                  <a:ext uri="{86915065-3348-4E5D-8B96-151CCDCDBC56}">
                    <a16:creationId xmlns:a16="http://schemas.microsoft.com/office/drawing/2010/main" id="{8D000678-5378-40B2-AC95-68B973C2B591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rgbClr val="6b5e62"/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grpSp>
        <p:nvGrpSpPr>
          <p:cNvPr id="17" name="">
            <a:extLst>
              <a:ext uri="{6EDC1A09-BAE3-4E2A-9411-3C147D549B99}">
                <a16:creationId xmlns:a16="http://schemas.microsoft.com/office/drawing/2010/main" id="{BE85D25D-1D3B-45F5-99D0-1F9D82D87B3D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0">
            <a:off x="3793788" y="2656998"/>
            <a:ext cx="833666" cy="742188"/>
            <a:chOff x="0" y="0"/>
            <a:chExt cx="1681734" cy="1497234"/>
          </a:xfrm>
        </p:grpSpPr>
        <p:grpSp>
          <p:nvGrpSpPr>
            <p:cNvPr id="18" name="shape-5FAC">
              <a:extLst>
                <a:ext uri="{B4E80E5E-D619-4BFE-A2E5-F5C07F3F08F8}">
                  <a16:creationId xmlns:a16="http://schemas.microsoft.com/office/drawing/2010/main" id="{B4C5FA4A-E14A-4BD4-A495-B7913F459AAC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9" name="shape-EE30">
                <a:extLst>
                  <a:ext uri="{6D385EB9-0C34-453B-931D-819EFE768EAF}">
                    <a16:creationId xmlns:a16="http://schemas.microsoft.com/office/drawing/2010/main" id="{B7AB6A79-2388-406F-B614-E02551EDED13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rgbClr val="6b5e62"/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87B14CD4-AD49-42D7-96A7-FA11E88F0FBD}">
        <p14:creationId xmlns:p14="http://schemas.microsoft.com/office/powerpoint/2010/main" val="1772739933389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473DEDC-B58F-4E1C-9D0D-F674B16CE1DA}">
                <a16:creationId xmlns:a16="http://schemas.microsoft.com/office/drawing/2010/main" id="{1C9F1DA4-97AF-49E3-970B-10D28DC1E19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668455"/>
            <a:ext cx="6953250" cy="5715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706B3C4D-4517-4E1D-A4B1-31EE5EC88159}">
                <a16:creationId xmlns:a16="http://schemas.microsoft.com/office/drawing/2010/main" id="{8C85E918-B568-4CB5-9301-59067D19859A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E1625202-38B2-41A5-9C66-6133FC6F4743}">
                <a16:creationId xmlns:a16="http://schemas.microsoft.com/office/drawing/2010/main" id="{6CC43206-57CB-4A49-AFE3-2D98491DA06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D5A99AF3-A337-4767-BCAE-77C8DDCF5936}">
                <a16:creationId xmlns:a16="http://schemas.microsoft.com/office/drawing/2010/main" id="{1DF3804C-ABC9-42D5-A394-D6C99D21CD9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25236D4F-AA3C-45FC-81F2-46F14FD55FDE}">
                <a16:creationId xmlns:a16="http://schemas.microsoft.com/office/drawing/2010/main" id="{8CC2E3B5-6A44-4B20-84E0-547D9275731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7" name="">
            <a:extLst>
              <a:ext uri="{11D2921C-55D1-48C4-8888-727EDBADF562}">
                <a16:creationId xmlns:a16="http://schemas.microsoft.com/office/drawing/2010/main" id="{25104C22-E8C6-41E7-A84D-9036AEA5246B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8" name="">
            <a:extLst>
              <a:ext uri="{A62F23C0-ADBB-46CD-9F6E-CC57DF9D8705}">
                <a16:creationId xmlns:a16="http://schemas.microsoft.com/office/drawing/2010/main" id="{EA3E91DA-D6C3-41D7-A288-E6AB41955500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7767818" y="945232"/>
            <a:ext cx="1014136" cy="1497234"/>
            <a:chOff x="0" y="0"/>
            <a:chExt cx="1681734" cy="1497234"/>
          </a:xfrm>
        </p:grpSpPr>
        <p:grpSp>
          <p:nvGrpSpPr>
            <p:cNvPr id="9" name="shape-5FAC">
              <a:extLst>
                <a:ext uri="{D8B48AE1-E664-481F-B854-2E6A4640D05F}">
                  <a16:creationId xmlns:a16="http://schemas.microsoft.com/office/drawing/2010/main" id="{5E55D84E-44FE-4EE9-A6EC-B1855B8D797E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0" name="shape-EE30">
                <a:extLst>
                  <a:ext uri="{3BC89DAD-5E5D-4479-86B6-33E0DB73CF47}">
                    <a16:creationId xmlns:a16="http://schemas.microsoft.com/office/drawing/2010/main" id="{A47746C6-FE50-4690-9BD8-16FE4F0D7F8B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rgbClr val="6b5e62"/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FB81855A-7842-4987-9615-F8378E34BA17}">
        <p14:creationId xmlns:p14="http://schemas.microsoft.com/office/powerpoint/2010/main" val="1772739933390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F7314E86-9707-4055-A349-9939F60A73C2}">
                <a16:creationId xmlns:a16="http://schemas.microsoft.com/office/drawing/2010/main" id="{AF7DF2A6-54E5-4C9F-9E7F-F623A288AEC7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Text Placeholder 2">
            <a:extLst>
              <a:ext uri="{38A45FA7-2A54-4D79-BDE1-FF04B86EFF7A}">
                <a16:creationId xmlns:a16="http://schemas.microsoft.com/office/drawing/2010/main" id="{6AB5F3C5-ACB7-4C6D-9D1F-1E3B9A87F092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6205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lvl="0">
              <a:buNone/>
              <a:defRPr dirty="0" lang="en-US" sz="1400"/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false" id="4" name="Title 1">
            <a:extLst>
              <a:ext uri="{F6128120-1F78-4A61-BD43-6BFCCFEC404A}">
                <a16:creationId xmlns:a16="http://schemas.microsoft.com/office/drawing/2010/main" id="{DD4D08A2-8EAC-4E26-A4AA-FFCEC2163926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164162"/>
            <a:ext cx="7620000" cy="857250"/>
          </a:xfrm>
          <a:prstGeom prst="rect">
            <a:avLst/>
          </a:prstGeom>
        </p:spPr>
        <p:txBody>
          <a:bodyPr anchor="t"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5" name="Slide Number Placeholder 5">
            <a:extLst>
              <a:ext uri="{84571570-A07E-4C96-8CE8-A1CA5D13091A}">
                <a16:creationId xmlns:a16="http://schemas.microsoft.com/office/drawing/2010/main" id="{E30F2ED1-84BC-4D9C-A9F8-319A032C13D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4">
            <a:extLst>
              <a:ext uri="{5D073765-C61C-442F-9BED-D4933D728DFA}">
                <a16:creationId xmlns:a16="http://schemas.microsoft.com/office/drawing/2010/main" id="{3F750623-C58E-4F43-B1CE-B29D3BD123D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3">
            <a:extLst>
              <a:ext uri="{37D15AB2-EDF0-4789-922C-3074730965A4}">
                <a16:creationId xmlns:a16="http://schemas.microsoft.com/office/drawing/2010/main" id="{9D73E199-536A-46BF-8A83-A61F038D804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grpSp>
        <p:nvGrpSpPr>
          <p:cNvPr id="8" name="">
            <a:extLst>
              <a:ext uri="{D115B28B-50E3-4B80-AA6C-F4559CE04B97}">
                <a16:creationId xmlns:a16="http://schemas.microsoft.com/office/drawing/2010/main" id="{E7C05678-1DB3-430D-A721-5D6F8796A2A0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5400000">
            <a:off x="570147" y="1592722"/>
            <a:ext cx="1139104" cy="1014117"/>
            <a:chOff x="0" y="0"/>
            <a:chExt cx="1681734" cy="1497234"/>
          </a:xfrm>
        </p:grpSpPr>
        <p:grpSp>
          <p:nvGrpSpPr>
            <p:cNvPr id="9" name="shape-5FAC">
              <a:extLst>
                <a:ext uri="{6CD85601-F8B0-4A29-8A2E-635F62DB15A0}">
                  <a16:creationId xmlns:a16="http://schemas.microsoft.com/office/drawing/2010/main" id="{6C43BAD9-87E6-424D-BF0D-642774021DA0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0" name="shape-EE30">
                <a:extLst>
                  <a:ext uri="{E8C76E3B-E1DD-40A5-B9F8-187475AEE51A}">
                    <a16:creationId xmlns:a16="http://schemas.microsoft.com/office/drawing/2010/main" id="{355DED81-7A04-4D48-B706-F9A82C8BDD93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grpSp>
        <p:nvGrpSpPr>
          <p:cNvPr id="11" name="">
            <a:extLst>
              <a:ext uri="{0FE558CE-4175-4541-8ACD-1DFFFC52B1E9}">
                <a16:creationId xmlns:a16="http://schemas.microsoft.com/office/drawing/2010/main" id="{82AFD397-8A11-4C3B-AFC8-E21F869264B8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8788899" y="3682717"/>
            <a:ext cx="362045" cy="1613535"/>
            <a:chOff x="0" y="-57150"/>
            <a:chExt cx="362045" cy="1613535"/>
          </a:xfrm>
        </p:grpSpPr>
        <p:grpSp>
          <p:nvGrpSpPr>
            <p:cNvPr id="12" name="shape-5754">
              <a:extLst>
                <a:ext uri="{DB28303A-675B-4C73-AB67-8525B49D7C2D}">
                  <a16:creationId xmlns:a16="http://schemas.microsoft.com/office/drawing/2010/main" id="{53328EAF-0800-47BF-A7DD-F5BB4BA760F0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3" name="shape-7013">
                <a:extLst>
                  <a:ext uri="{7E446B4F-DA89-4BBB-85F3-FA7B80F9A15A}">
                    <a16:creationId xmlns:a16="http://schemas.microsoft.com/office/drawing/2010/main" id="{3AD4B41E-1A90-41CB-81E4-A6E8BF4D9B38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4" name="shape-30D5">
                <a:extLst>
                  <a:ext uri="{ACC2418A-8EEA-46B9-9A78-EA52F291837F}">
                    <a16:creationId xmlns:a16="http://schemas.microsoft.com/office/drawing/2010/main" id="{7E3AB6F7-F776-4B79-A748-F2408DF5AFC4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E0C8F0F6-0E2E-4FE2-A68E-27C516D7A73D}">
        <p14:creationId xmlns:p14="http://schemas.microsoft.com/office/powerpoint/2010/main" val="1772739933391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F6A541E-64E6-4336-9A9A-5309E81AFFC9}">
                <a16:creationId xmlns:a16="http://schemas.microsoft.com/office/drawing/2010/main" id="{3D951C69-B620-4CFD-B0A5-8B89D9A7B41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2CCF2A14-1136-4CBE-8555-0ADE85495EFE}">
                <a16:creationId xmlns:a16="http://schemas.microsoft.com/office/drawing/2010/main" id="{CC66243E-8ADE-4998-996F-0A8F69757E49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4800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2">
            <a:extLst>
              <a:ext uri="{4051AA3B-52EE-4F50-9E5A-A07F7074292C}">
                <a16:creationId xmlns:a16="http://schemas.microsoft.com/office/drawing/2010/main" id="{89B3B22A-B4B5-4442-A164-41E9CA5BFA1D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4800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6">
            <a:extLst>
              <a:ext uri="{8D1B2FFF-57EA-4A65-A86C-164823FC78B1}">
                <a16:creationId xmlns:a16="http://schemas.microsoft.com/office/drawing/2010/main" id="{24C474A7-43A1-4179-93E6-FCAE6B92FDE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5">
            <a:extLst>
              <a:ext uri="{EF0CACF3-D426-4868-B39E-F6A4602A3860}">
                <a16:creationId xmlns:a16="http://schemas.microsoft.com/office/drawing/2010/main" id="{7DE69A42-99F1-4660-A49C-7494B006D21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4">
            <a:extLst>
              <a:ext uri="{B6B3DC7F-A961-4893-AE64-59492CF15CD5}">
                <a16:creationId xmlns:a16="http://schemas.microsoft.com/office/drawing/2010/main" id="{97796B6B-72F7-40C2-A440-4DCC3FFB595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grpSp>
        <p:nvGrpSpPr>
          <p:cNvPr id="8" name="">
            <a:extLst>
              <a:ext uri="{51A130DF-63BA-44D4-A3CD-B7FD7A5A71A6}">
                <a16:creationId xmlns:a16="http://schemas.microsoft.com/office/drawing/2010/main" id="{9F22DB71-63F3-4AE1-97CE-B0E9139BE9A2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5400000">
            <a:off x="570147" y="270614"/>
            <a:ext cx="1139104" cy="1014117"/>
            <a:chOff x="0" y="0"/>
            <a:chExt cx="1681734" cy="1497234"/>
          </a:xfrm>
        </p:grpSpPr>
        <p:grpSp>
          <p:nvGrpSpPr>
            <p:cNvPr id="9" name="shape-5FAC">
              <a:extLst>
                <a:ext uri="{79E0ED02-2C4A-4228-A8D4-DFB9A0B68609}">
                  <a16:creationId xmlns:a16="http://schemas.microsoft.com/office/drawing/2010/main" id="{BBE58D4A-7BBD-4194-B43F-6F6CBE9CA08D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0" name="shape-EE30">
                <a:extLst>
                  <a:ext uri="{6AA44DA3-ABEB-483C-B4FD-590B495A2862}">
                    <a16:creationId xmlns:a16="http://schemas.microsoft.com/office/drawing/2010/main" id="{E2D2E48D-6F33-490B-8437-1042AB0D06DB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sp>
        <p:nvSpPr>
          <p:cNvPr id="11" name="">
            <a:extLst>
              <a:ext uri="{0AD2B2E0-4E59-4906-B8D6-BA8735686066}">
                <a16:creationId xmlns:a16="http://schemas.microsoft.com/office/drawing/2010/main" id="{7C61B853-A108-40CB-9E53-4D3CD950AC8B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2" name="">
            <a:extLst>
              <a:ext uri="{BA17C281-D687-429C-B689-99058EF67E97}">
                <a16:creationId xmlns:a16="http://schemas.microsoft.com/office/drawing/2010/main" id="{91F5CDCC-7F6E-43ED-BCC3-68D4C57CDD6D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8788899" y="3682717"/>
            <a:ext cx="362045" cy="1613535"/>
            <a:chOff x="0" y="-57150"/>
            <a:chExt cx="362045" cy="1613535"/>
          </a:xfrm>
        </p:grpSpPr>
        <p:grpSp>
          <p:nvGrpSpPr>
            <p:cNvPr id="13" name="shape-5754">
              <a:extLst>
                <a:ext uri="{348B74CC-6052-439D-A81E-C588EC1896BB}">
                  <a16:creationId xmlns:a16="http://schemas.microsoft.com/office/drawing/2010/main" id="{EA491F76-E32B-41D2-B975-DA428953FC43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4" name="shape-7013">
                <a:extLst>
                  <a:ext uri="{88595D0F-3CA4-4CF4-B306-BFA969EC6196}">
                    <a16:creationId xmlns:a16="http://schemas.microsoft.com/office/drawing/2010/main" id="{4C09732B-9739-49E5-8BF9-0D1BDA673EE2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5" name="shape-30D5">
                <a:extLst>
                  <a:ext uri="{1506BF65-06CA-401E-B83B-9C8D9429C689}">
                    <a16:creationId xmlns:a16="http://schemas.microsoft.com/office/drawing/2010/main" id="{EDD0044C-2865-4E15-8D8A-8279E268A703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579EDFED-BEE7-4E1E-96E5-58091C7E6AD2}">
        <p14:creationId xmlns:p14="http://schemas.microsoft.com/office/powerpoint/2010/main" val="1772739933391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C483B5FB-0C6A-40E6-A99A-19ECA7BDC219}">
                <a16:creationId xmlns:a16="http://schemas.microsoft.com/office/drawing/2010/main" id="{3AB6D8FF-AFFA-43B9-8C21-3CCCA854A7F6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dirty="0" lang="en-US">
                <a:solidFill>
                  <a:schemeClr val="accent1"/>
                </a:solidFill>
                <a:latin typeface="Open Sans-demi_bold"/>
              </a:defRPr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1FEC1B96-29DA-4D59-8F72-BFA04740E621}">
                <a16:creationId xmlns:a16="http://schemas.microsoft.com/office/drawing/2010/main" id="{4D857EDC-232E-4532-9725-C9EA94045EA6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6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dirty="0" lang="en-US">
                <a:solidFill>
                  <a:schemeClr val="accent1"/>
                </a:solidFill>
                <a:latin typeface="Open Sans-demi_bold"/>
              </a:defRPr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B72F6316-CBBD-4A97-B2E1-923898BB7FB2}">
                <a16:creationId xmlns:a16="http://schemas.microsoft.com/office/drawing/2010/main" id="{75CF818A-0B4F-47FB-A5F5-7590938D65F5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40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5EB55FB7-C14B-4F9F-9BDD-931FA993B0B1}">
                <a16:creationId xmlns:a16="http://schemas.microsoft.com/office/drawing/2010/main" id="{69A80D58-1237-4B95-9F6E-2D45C2796111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16C04163-28C7-4E67-8121-6874D745D333}">
                <a16:creationId xmlns:a16="http://schemas.microsoft.com/office/drawing/2010/main" id="{8709780D-DBA2-4F5A-BFC2-0C184BCD79B0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1" y="1961540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2CC023D1-F866-4289-98D4-AB0554882601}">
                <a16:creationId xmlns:a16="http://schemas.microsoft.com/office/drawing/2010/main" id="{495707DA-545A-4161-8773-5E3FA0DDEDA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589EC5FE-CAE8-4CFA-858E-B89B41FD9F0B}">
                <a16:creationId xmlns:a16="http://schemas.microsoft.com/office/drawing/2010/main" id="{F7C915D5-5959-4F32-A001-A3E04DBDBCA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D84D3965-957E-4B1E-B0AA-A46221139BF3}">
                <a16:creationId xmlns:a16="http://schemas.microsoft.com/office/drawing/2010/main" id="{73F28DC1-43CC-4F50-B597-EB5FAE83350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grpSp>
        <p:nvGrpSpPr>
          <p:cNvPr id="10" name="">
            <a:extLst>
              <a:ext uri="{3CD955D2-586B-4A13-8ED4-0DE01F17F420}">
                <a16:creationId xmlns:a16="http://schemas.microsoft.com/office/drawing/2010/main" id="{2A940A69-C969-4966-94B5-4E08C690E917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5400000">
            <a:off x="570147" y="270614"/>
            <a:ext cx="1139104" cy="1014117"/>
            <a:chOff x="0" y="0"/>
            <a:chExt cx="1681734" cy="1497234"/>
          </a:xfrm>
        </p:grpSpPr>
        <p:grpSp>
          <p:nvGrpSpPr>
            <p:cNvPr id="11" name="shape-5FAC">
              <a:extLst>
                <a:ext uri="{4848A616-47FD-4170-B957-BF5F5BFB2FB4}">
                  <a16:creationId xmlns:a16="http://schemas.microsoft.com/office/drawing/2010/main" id="{C856632A-1375-4FE0-BBB0-1D1AB03094B6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2" name="shape-EE30">
                <a:extLst>
                  <a:ext uri="{00CBC191-609B-4F33-88EB-8D17D3AEFE0D}">
                    <a16:creationId xmlns:a16="http://schemas.microsoft.com/office/drawing/2010/main" id="{782ADA83-A80F-4C57-879A-BA0EDEBADFBE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sp>
        <p:nvSpPr>
          <p:cNvPr id="13" name="">
            <a:extLst>
              <a:ext uri="{93B5E3BE-9059-48C7-A5E1-41CBD95757B2}">
                <a16:creationId xmlns:a16="http://schemas.microsoft.com/office/drawing/2010/main" id="{8016FEA8-E9AA-4C01-A632-DF6B29D4770F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4" name="">
            <a:extLst>
              <a:ext uri="{9AAB7E9C-1E89-4032-A327-6080BAEDCCC3}">
                <a16:creationId xmlns:a16="http://schemas.microsoft.com/office/drawing/2010/main" id="{357C4206-65F4-4065-9218-F7E1F3D9403D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8788899" y="3682717"/>
            <a:ext cx="362045" cy="1613535"/>
            <a:chOff x="0" y="-57150"/>
            <a:chExt cx="362045" cy="1613535"/>
          </a:xfrm>
        </p:grpSpPr>
        <p:grpSp>
          <p:nvGrpSpPr>
            <p:cNvPr id="15" name="shape-5754">
              <a:extLst>
                <a:ext uri="{D3CD39DC-144B-4244-A447-9AC1809FBCDB}">
                  <a16:creationId xmlns:a16="http://schemas.microsoft.com/office/drawing/2010/main" id="{CD138B1E-5FC1-475D-AA33-F0D90A4CC978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6" name="shape-7013">
                <a:extLst>
                  <a:ext uri="{A0DAD6A1-9C7F-4B82-8E9E-8F5F6BC1C294}">
                    <a16:creationId xmlns:a16="http://schemas.microsoft.com/office/drawing/2010/main" id="{D51A2F9B-69D6-4758-B7DC-CA05FB602024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7" name="shape-30D5">
                <a:extLst>
                  <a:ext uri="{665A34BE-9064-457B-9964-9131F0E1265E}">
                    <a16:creationId xmlns:a16="http://schemas.microsoft.com/office/drawing/2010/main" id="{D632F5DB-1FF2-414D-841F-95ECF08D9E9B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custDataLst>
      <p:tags r:id="rId2"/>
    </p:custDataLst>
    <p:extLst>
      <p:ext uri="{D931F1C6-4F6C-4D41-92F5-F654463B4620}">
        <p14:creationId xmlns:p14="http://schemas.microsoft.com/office/powerpoint/2010/main" val="1772739933393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FEAF207-FA3C-427C-B6E6-A02FAE095F4B}">
                <a16:creationId xmlns:a16="http://schemas.microsoft.com/office/drawing/2010/main" id="{25B509B7-9C87-45D6-A54B-BB2195AAE5F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7F71F088-82A5-4E5C-B27C-8D5DE41643A6}">
                <a16:creationId xmlns:a16="http://schemas.microsoft.com/office/drawing/2010/main" id="{0A5A7C97-E81E-4F1C-98AD-F68AD65162D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674A610D-2661-4F9A-A2D3-BABEDE194E3F}">
                <a16:creationId xmlns:a16="http://schemas.microsoft.com/office/drawing/2010/main" id="{B91EA170-6460-4A48-85CE-DBC966E1096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A420011B-7F3E-41CA-BB18-5928FE0899F6}">
                <a16:creationId xmlns:a16="http://schemas.microsoft.com/office/drawing/2010/main" id="{382F8523-C40B-4C3D-ACCE-DC396E7904E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grpSp>
        <p:nvGrpSpPr>
          <p:cNvPr id="6" name="">
            <a:extLst>
              <a:ext uri="{FEC383F0-E964-497F-B3D2-0A6A5B5DDFCF}">
                <a16:creationId xmlns:a16="http://schemas.microsoft.com/office/drawing/2010/main" id="{8E812ECD-28B4-4010-B380-98BD3D835E61}"/>
              </a:ext>
            </a:extLst>
          </p:cNvPr>
          <p:cNvGrpSpPr>
            <a:grpSpLocks noChangeAspect="true"/>
          </p:cNvGrpSpPr>
          <p:nvPr/>
        </p:nvGrpSpPr>
        <p:grpSpPr>
          <a:xfrm flipH="true" flipV="false" rot="5400000">
            <a:off x="7391343" y="1828199"/>
            <a:ext cx="1156830" cy="1029900"/>
            <a:chOff x="0" y="0"/>
            <a:chExt cx="1681734" cy="1497234"/>
          </a:xfrm>
        </p:grpSpPr>
        <p:grpSp>
          <p:nvGrpSpPr>
            <p:cNvPr id="7" name="shape-5FAC">
              <a:extLst>
                <a:ext uri="{5068E8E1-FA93-4211-A8F8-CF416AEEAAF8}">
                  <a16:creationId xmlns:a16="http://schemas.microsoft.com/office/drawing/2010/main" id="{4130A8FF-8D32-4E4C-BEE8-38EB0E318F67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8" name="shape-EE30">
                <a:extLst>
                  <a:ext uri="{AD3BFEA8-ECE0-467C-BDF6-0C81DB3733B0}">
                    <a16:creationId xmlns:a16="http://schemas.microsoft.com/office/drawing/2010/main" id="{16C3EFEA-8199-4B0F-B508-1FCB97400826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sp>
        <p:nvSpPr>
          <p:cNvPr id="9" name="">
            <a:extLst>
              <a:ext uri="{8F3CD188-F18B-4989-A56D-5C09D643D8F5}">
                <a16:creationId xmlns:a16="http://schemas.microsoft.com/office/drawing/2010/main" id="{68023236-C30A-43BB-A89A-EF7B8B406D41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0" name="">
            <a:extLst>
              <a:ext uri="{C842F80D-F913-4433-BF72-A188FD1843A7}">
                <a16:creationId xmlns:a16="http://schemas.microsoft.com/office/drawing/2010/main" id="{9466672A-ADE8-4C17-B784-C8F56B4ADB37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7486" y="3558835"/>
            <a:ext cx="398392" cy="1775517"/>
            <a:chOff x="0" y="-57150"/>
            <a:chExt cx="362045" cy="1613535"/>
          </a:xfrm>
        </p:grpSpPr>
        <p:grpSp>
          <p:nvGrpSpPr>
            <p:cNvPr id="11" name="shape-5754">
              <a:extLst>
                <a:ext uri="{356073BC-F0CF-415D-8E36-1B7AC09ED6BC}">
                  <a16:creationId xmlns:a16="http://schemas.microsoft.com/office/drawing/2010/main" id="{011D1ABD-0C21-4EE7-9D24-764FB9CBCE17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2" name="shape-7013">
                <a:extLst>
                  <a:ext uri="{C008503C-369B-435A-92D5-9507E44B5946}">
                    <a16:creationId xmlns:a16="http://schemas.microsoft.com/office/drawing/2010/main" id="{D52AC028-4916-4A42-8007-BCF40E8F4E2E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3" name="shape-30D5">
                <a:extLst>
                  <a:ext uri="{A055F9A6-EB3C-44F6-8620-F75D1F2FE5A5}">
                    <a16:creationId xmlns:a16="http://schemas.microsoft.com/office/drawing/2010/main" id="{CE494058-B335-432D-BF07-1C7551508CF0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EDF1B015-691F-43A9-A203-7BBC0A06E1C9}">
        <p14:creationId xmlns:p14="http://schemas.microsoft.com/office/powerpoint/2010/main" val="1772739933393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0A9B0BE5-E1C1-4EB0-90D6-EE5753C83CC3}">
                <a16:creationId xmlns:a16="http://schemas.microsoft.com/office/drawing/2010/main" id="{6217865E-5F37-4FA2-ADD9-DAA27BCD8C3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AFB98B3E-46D8-4784-8ECA-2A7CCBB437CC}">
                <a16:creationId xmlns:a16="http://schemas.microsoft.com/office/drawing/2010/main" id="{E2C32183-5ED0-4703-8E89-AE7A393F981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D89FB610-0735-42C6-8A24-96B167875932}">
                <a16:creationId xmlns:a16="http://schemas.microsoft.com/office/drawing/2010/main" id="{2672D8FD-807B-4484-901B-49615A6F68C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5" name="">
            <a:extLst>
              <a:ext uri="{6A3AF63A-BA6E-4F61-9BAE-484D9B499B65}">
                <a16:creationId xmlns:a16="http://schemas.microsoft.com/office/drawing/2010/main" id="{4401E098-79A4-4C2A-B2E5-F724F25C5EAB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6" name="">
            <a:extLst>
              <a:ext uri="{07C204AD-977A-46D2-BE2D-BAD0738F8D12}">
                <a16:creationId xmlns:a16="http://schemas.microsoft.com/office/drawing/2010/main" id="{4D72C06A-DA55-4003-B733-2CAE26F20FCB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7486" y="3558835"/>
            <a:ext cx="398392" cy="1775517"/>
            <a:chOff x="0" y="-57150"/>
            <a:chExt cx="362045" cy="1613535"/>
          </a:xfrm>
        </p:grpSpPr>
        <p:grpSp>
          <p:nvGrpSpPr>
            <p:cNvPr id="7" name="shape-5754">
              <a:extLst>
                <a:ext uri="{A4726C91-DE3F-4849-8032-F16B12C21332}">
                  <a16:creationId xmlns:a16="http://schemas.microsoft.com/office/drawing/2010/main" id="{A05AD966-AF10-4647-BC76-5F8EE7E3CDD4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8" name="shape-7013">
                <a:extLst>
                  <a:ext uri="{3E01B25C-E5E1-4720-B187-228EA7BAA202}">
                    <a16:creationId xmlns:a16="http://schemas.microsoft.com/office/drawing/2010/main" id="{4BA04DA0-1144-46EA-B696-E8CEE6108306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9" name="shape-30D5">
                <a:extLst>
                  <a:ext uri="{4858351F-9A0E-4CB5-A547-8E5B8311E1CE}">
                    <a16:creationId xmlns:a16="http://schemas.microsoft.com/office/drawing/2010/main" id="{F0E97860-73DF-4B7A-8461-85F925F41691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1C9457F3-9A33-4F1C-971E-A9BF820E40C1}">
        <p14:creationId xmlns:p14="http://schemas.microsoft.com/office/powerpoint/2010/main" val="1772739933394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7C498CD-9165-4AA8-B23A-2FAB445AEADF}">
                <a16:creationId xmlns:a16="http://schemas.microsoft.com/office/drawing/2010/main" id="{DA57D40C-A7E0-440E-A670-E502EF5E49A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12C22900-BCA2-479E-B5E5-2BF89F7B6835}">
                <a16:creationId xmlns:a16="http://schemas.microsoft.com/office/drawing/2010/main" id="{E6ECE52F-6240-4911-A73C-69FC7628DE96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buNone/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200D0E8B-3916-4870-8152-5C38B3768435}">
                <a16:creationId xmlns:a16="http://schemas.microsoft.com/office/drawing/2010/main" id="{28044C77-F8A2-41B9-BBBB-3D573AEFBBE3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24D53DB5-CB70-496C-8D15-44357E9D0751}">
                <a16:creationId xmlns:a16="http://schemas.microsoft.com/office/drawing/2010/main" id="{CF976C64-DE55-4457-97C4-EEC831C8000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2A435D3F-9404-4B79-B195-4218E5F9D959}">
                <a16:creationId xmlns:a16="http://schemas.microsoft.com/office/drawing/2010/main" id="{FAE38C46-D886-4AED-AC32-8AFF072B4F1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0DFB05B7-EB21-48A0-9C6B-CE91DAD99BDD}">
                <a16:creationId xmlns:a16="http://schemas.microsoft.com/office/drawing/2010/main" id="{9274B282-C241-47E3-B5F7-F13B5E69FD1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">
            <a:extLst>
              <a:ext uri="{98FBDAA5-C443-4CBD-9FC5-15D285EB721B}">
                <a16:creationId xmlns:a16="http://schemas.microsoft.com/office/drawing/2010/main" id="{AD7286F4-05ED-45B5-9202-BBE03107738E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9" name="">
            <a:extLst>
              <a:ext uri="{E69F60F1-3A61-4784-856B-BD4F06314E9B}">
                <a16:creationId xmlns:a16="http://schemas.microsoft.com/office/drawing/2010/main" id="{0FED7BE5-DF16-49EF-8400-E6D9D1BE681B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8788899" y="3682717"/>
            <a:ext cx="362045" cy="1613535"/>
            <a:chOff x="0" y="-57150"/>
            <a:chExt cx="362045" cy="1613535"/>
          </a:xfrm>
        </p:grpSpPr>
        <p:grpSp>
          <p:nvGrpSpPr>
            <p:cNvPr id="10" name="shape-5754">
              <a:extLst>
                <a:ext uri="{8E2F5373-05AF-430D-AE2D-206716FD4B51}">
                  <a16:creationId xmlns:a16="http://schemas.microsoft.com/office/drawing/2010/main" id="{CE753441-A70A-4AEA-9D8F-C8DBA7751AD9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1" name="shape-7013">
                <a:extLst>
                  <a:ext uri="{022E1E4B-AC27-460E-A95F-AA5853A35D62}">
                    <a16:creationId xmlns:a16="http://schemas.microsoft.com/office/drawing/2010/main" id="{B71CAE06-9443-4984-A7BA-E13989E47A02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2" name="shape-30D5">
                <a:extLst>
                  <a:ext uri="{6EDA46C8-2E57-4E4A-98B2-993F48D26CFC}">
                    <a16:creationId xmlns:a16="http://schemas.microsoft.com/office/drawing/2010/main" id="{28E8F209-65AF-4EC0-9704-6DDFEF782D38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grpSp>
        <p:nvGrpSpPr>
          <p:cNvPr id="13" name="">
            <a:extLst>
              <a:ext uri="{42AD28DB-241B-4028-B84E-3B7334E53179}">
                <a16:creationId xmlns:a16="http://schemas.microsoft.com/office/drawing/2010/main" id="{C1EE4507-51DB-45FD-8262-802D615774ED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5400000">
            <a:off x="570147" y="270614"/>
            <a:ext cx="1139104" cy="1014117"/>
            <a:chOff x="0" y="0"/>
            <a:chExt cx="1681734" cy="1497234"/>
          </a:xfrm>
        </p:grpSpPr>
        <p:grpSp>
          <p:nvGrpSpPr>
            <p:cNvPr id="14" name="shape-5FAC">
              <a:extLst>
                <a:ext uri="{5F0D5573-3F47-4A04-BD5F-D176C1375EB4}">
                  <a16:creationId xmlns:a16="http://schemas.microsoft.com/office/drawing/2010/main" id="{D72CEE77-BBBA-47EC-9ECC-90BE0E4CECFF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5" name="shape-EE30">
                <a:extLst>
                  <a:ext uri="{CD20A9B5-B0B9-4F34-87C6-2B3BC29F02FD}">
                    <a16:creationId xmlns:a16="http://schemas.microsoft.com/office/drawing/2010/main" id="{F5C7CAD9-708E-4B7A-A671-52C835A05822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CADA9D3D-E078-42BC-A747-350E09469814}">
        <p14:creationId xmlns:p14="http://schemas.microsoft.com/office/powerpoint/2010/main" val="1772739933395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224A6B46-277D-48F4-A9AD-103BD8A0E2C7}">
                <a16:creationId xmlns:a16="http://schemas.microsoft.com/office/drawing/2010/main" id="{171398E1-EC7B-4386-9D25-A25D38250267}"/>
              </a:ext>
            </a:extLst>
          </p:cNvPr>
          <p:cNvSpPr/>
          <p:nvPr/>
        </p:nvSpPr>
        <p:spPr>
          <a:xfrm rot="0">
            <a:off x="5801515" y="1427778"/>
            <a:ext cx="2584770" cy="3037027"/>
          </a:xfrm>
          <a:prstGeom prst="rect">
            <a:avLst/>
          </a:prstGeom>
          <a:noFill/>
          <a:ln cap="flat" w="6350">
            <a:solidFill>
              <a:schemeClr val="tx1">
                <a:alpha val="65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EFD93FA3-65B2-4FDD-9032-7F7A43D551A9}">
                <a16:creationId xmlns:a16="http://schemas.microsoft.com/office/drawing/2010/main" id="{D77570CD-3AA7-486C-B978-7DC1EB8C21B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3"/>
            <a:ext cx="7620000" cy="85725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3CF971A4-B5E5-41E7-B57B-F9E4AFDA6E08}">
                <a16:creationId xmlns:a16="http://schemas.microsoft.com/office/drawing/2010/main" id="{BD3F7939-0B7F-4B82-8D22-2B4D112F7EE2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896"/>
            <a:ext cx="4671593" cy="2984401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buNone/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E6FEC3AB-6796-4A5B-A57A-2B565FB6C9A9}">
                <a16:creationId xmlns:a16="http://schemas.microsoft.com/office/drawing/2010/main" id="{B445D4E5-B7FC-484E-9F43-8F59933905F0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5716342" y="1492948"/>
            <a:ext cx="2599372" cy="2925965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3B86ED7A-C3D5-4BF9-9337-A21C9547AB3C}">
                <a16:creationId xmlns:a16="http://schemas.microsoft.com/office/drawing/2010/main" id="{89D4D21C-2599-45A9-85F6-11F2C889618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210F6D72-B413-4EC2-954C-2747F292EDDA}">
                <a16:creationId xmlns:a16="http://schemas.microsoft.com/office/drawing/2010/main" id="{8D3B9583-9B28-4F57-9B16-42072BF2BC6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789379FC-933E-41B2-BDDA-D974FA54D6EC}">
                <a16:creationId xmlns:a16="http://schemas.microsoft.com/office/drawing/2010/main" id="{3061ADE7-02FA-4073-8958-BC447F82EF4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9" name="">
            <a:extLst>
              <a:ext uri="{8DE4C8CA-6E12-4CD8-BCDF-ACF8AEE9B1ED}">
                <a16:creationId xmlns:a16="http://schemas.microsoft.com/office/drawing/2010/main" id="{07E6EAAF-56AE-4496-B5C5-14EAE13CDC74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0" name="">
            <a:extLst>
              <a:ext uri="{892A533F-2FC2-4DE3-AF49-023A547D164C}">
                <a16:creationId xmlns:a16="http://schemas.microsoft.com/office/drawing/2010/main" id="{0001AD6D-A1CC-4EE0-B882-171201838066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9658" y="3909841"/>
            <a:ext cx="312639" cy="1393355"/>
            <a:chOff x="0" y="-57150"/>
            <a:chExt cx="362045" cy="1613535"/>
          </a:xfrm>
        </p:grpSpPr>
        <p:grpSp>
          <p:nvGrpSpPr>
            <p:cNvPr id="11" name="shape-5754">
              <a:extLst>
                <a:ext uri="{857B4C06-7E7E-4B8A-A9B2-52890F6F75A0}">
                  <a16:creationId xmlns:a16="http://schemas.microsoft.com/office/drawing/2010/main" id="{6905FB56-C154-42C0-AD9E-A9CBF392454B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2" name="shape-7013">
                <a:extLst>
                  <a:ext uri="{653DF3D7-85CD-4B40-8F6D-BA0D10D43F7A}">
                    <a16:creationId xmlns:a16="http://schemas.microsoft.com/office/drawing/2010/main" id="{C98383C9-AAAB-4E73-9685-D7F5C68E1E74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3" name="shape-30D5">
                <a:extLst>
                  <a:ext uri="{505950F3-1B8B-493F-87B6-07E0EAE88EB5}">
                    <a16:creationId xmlns:a16="http://schemas.microsoft.com/office/drawing/2010/main" id="{091E7882-19F4-499E-8CD0-15715AE0AFFC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B1D3E4EA-CA29-4B40-BEA3-9BD84E741BAA}">
        <p14:creationId xmlns:p14="http://schemas.microsoft.com/office/powerpoint/2010/main" val="1772739933395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E14C2FC5-DB7E-4F96-85E5-60FA5EFC301E}">
                <a16:creationId xmlns:a16="http://schemas.microsoft.com/office/drawing/2010/main" id="{9EA88F07-241B-496E-A379-2FDD37D745EB}"/>
              </a:ext>
            </a:extLst>
          </p:cNvPr>
          <p:cNvSpPr/>
          <p:nvPr/>
        </p:nvSpPr>
        <p:spPr>
          <a:xfrm rot="0">
            <a:off x="986047" y="1341434"/>
            <a:ext cx="1850526" cy="226695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7827AC56-C305-48C5-A9C1-AD7F0838244B}">
                <a16:creationId xmlns:a16="http://schemas.microsoft.com/office/drawing/2010/main" id="{B501A6AC-1DCD-4311-80DB-276C815900CF}"/>
              </a:ext>
            </a:extLst>
          </p:cNvPr>
          <p:cNvSpPr/>
          <p:nvPr/>
        </p:nvSpPr>
        <p:spPr>
          <a:xfrm rot="0">
            <a:off x="3600573" y="1174442"/>
            <a:ext cx="1694049" cy="2435533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BF7C1A14-C558-485A-82D0-AFB5AE3DB1A6}">
                <a16:creationId xmlns:a16="http://schemas.microsoft.com/office/drawing/2010/main" id="{4992D7F4-5863-46DA-B208-1D84832AC4B9}"/>
              </a:ext>
            </a:extLst>
          </p:cNvPr>
          <p:cNvSpPr/>
          <p:nvPr/>
        </p:nvSpPr>
        <p:spPr>
          <a:xfrm rot="0">
            <a:off x="6330953" y="1181100"/>
            <a:ext cx="1714138" cy="2283133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5DCF9A9A-12EC-4E4D-B11B-501D895A74DD}">
                <a16:creationId xmlns:a16="http://schemas.microsoft.com/office/drawing/2010/main" id="{6A4DAB5B-F9FB-4CB7-A8C3-60E4D3C1977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3"/>
            <a:ext cx="7620000" cy="7620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C5FBE993-708D-41A8-AEB6-E68F49CBF5F0}">
                <a16:creationId xmlns:a16="http://schemas.microsoft.com/office/drawing/2010/main" id="{81A72D51-85D4-49BF-9065-FBEAF90F5A1B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1063628" y="1265234"/>
            <a:ext cx="1939918" cy="2284409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4E3C4FA5-1E76-4DB3-9B6C-AF726083E739}">
                <a16:creationId xmlns:a16="http://schemas.microsoft.com/office/drawing/2010/main" id="{AFFDAF61-FFD0-4242-ADA6-4763485076BA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1063628" y="3667125"/>
            <a:ext cx="1919563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65B65131-2E8C-4D4D-BB15-40E27BA925CC}">
                <a16:creationId xmlns:a16="http://schemas.microsoft.com/office/drawing/2010/main" id="{10000937-D627-4255-9426-67B68DFDB380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3695700" y="1266825"/>
            <a:ext cx="1943100" cy="2284418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68F2DFDA-1533-4111-BEA1-B07CF96F132B}">
                <a16:creationId xmlns:a16="http://schemas.microsoft.com/office/drawing/2010/main" id="{F5E9E6C5-9950-433D-9D5F-E752576ED903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3743839" y="3667125"/>
            <a:ext cx="189496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ED07FD47-22F6-4ADE-AE9A-2B44F2AFF547}">
                <a16:creationId xmlns:a16="http://schemas.microsoft.com/office/drawing/2010/main" id="{AEC4C1B8-5C43-4D22-A143-9DF1D7F01BF7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022952" y="1266825"/>
            <a:ext cx="1943100" cy="2284418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13DC8892-02EA-4B1A-AE8B-C1C8F77BAB66}">
                <a16:creationId xmlns:a16="http://schemas.microsoft.com/office/drawing/2010/main" id="{BDA20D81-617E-472E-A9EF-363B32AEB181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022952" y="3667125"/>
            <a:ext cx="192234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EAE7A361-E514-4553-9CD8-92E1287A258E}">
                <a16:creationId xmlns:a16="http://schemas.microsoft.com/office/drawing/2010/main" id="{4EA6D684-6B68-4C01-B1FA-4217FE242836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C544C66E-D9A3-4F43-9864-63D11B71F4DB}">
                <a16:creationId xmlns:a16="http://schemas.microsoft.com/office/drawing/2010/main" id="{71622EA0-E8C0-43C6-AD8E-D5B875611D1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16554235-6259-4EF9-9C5A-906E83B1FBD5}">
                <a16:creationId xmlns:a16="http://schemas.microsoft.com/office/drawing/2010/main" id="{F9F5CF8D-F29B-4994-8FEC-BBC9BE69B26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15" name="">
            <a:extLst>
              <a:ext uri="{0BE4F253-6EA1-4549-A148-9BEF5E560B06}">
                <a16:creationId xmlns:a16="http://schemas.microsoft.com/office/drawing/2010/main" id="{C1DCF314-2B9A-4142-8662-3F7D56605E1C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6" name="">
            <a:extLst>
              <a:ext uri="{8BA4E783-308C-4552-9C36-1E3911E3288D}">
                <a16:creationId xmlns:a16="http://schemas.microsoft.com/office/drawing/2010/main" id="{906C7823-8D31-4A58-B224-5E6915681DB1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9658" y="3909841"/>
            <a:ext cx="312639" cy="1393355"/>
            <a:chOff x="0" y="-57150"/>
            <a:chExt cx="362045" cy="1613535"/>
          </a:xfrm>
        </p:grpSpPr>
        <p:grpSp>
          <p:nvGrpSpPr>
            <p:cNvPr id="17" name="shape-5754">
              <a:extLst>
                <a:ext uri="{9518C1DC-4C7C-42E5-8652-65B48CF64803}">
                  <a16:creationId xmlns:a16="http://schemas.microsoft.com/office/drawing/2010/main" id="{CEF2B0AC-60C3-48D0-967D-3B3D3C4099C9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8" name="shape-7013">
                <a:extLst>
                  <a:ext uri="{EBCAFA2B-EA26-4BB4-86C0-F11FB270F819}">
                    <a16:creationId xmlns:a16="http://schemas.microsoft.com/office/drawing/2010/main" id="{0489FBC5-0125-4421-91F7-ED373A23F01C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9" name="shape-30D5">
                <a:extLst>
                  <a:ext uri="{D2B5022A-75AF-46BD-808F-72304CD928DE}">
                    <a16:creationId xmlns:a16="http://schemas.microsoft.com/office/drawing/2010/main" id="{E280A242-8496-4BA7-9389-02E8D9E733E7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custDataLst>
      <p:tags r:id="rId2"/>
    </p:custDataLst>
    <p:extLst>
      <p:ext uri="{4F0B499F-6F6C-4731-AE20-1E8A32125B37}">
        <p14:creationId xmlns:p14="http://schemas.microsoft.com/office/powerpoint/2010/main" val="1772739933396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16F29697-A4C1-40F2-A2B4-F88F51E06906}">
                <a16:creationId xmlns:a16="http://schemas.microsoft.com/office/drawing/2010/main" id="{C7C4C747-BD4B-4DF7-909A-6B751B4B4146}"/>
              </a:ext>
            </a:extLst>
          </p:cNvPr>
          <p:cNvSpPr/>
          <p:nvPr/>
        </p:nvSpPr>
        <p:spPr>
          <a:xfrm rot="0">
            <a:off x="986047" y="1313411"/>
            <a:ext cx="1626527" cy="219234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">
            <a:extLst>
              <a:ext uri="{84E2B83A-0F57-4A2F-86F7-22036B736626}">
                <a16:creationId xmlns:a16="http://schemas.microsoft.com/office/drawing/2010/main" id="{CDA30A4B-68A4-433C-A3E0-E6DDA3F717B0}"/>
              </a:ext>
            </a:extLst>
          </p:cNvPr>
          <p:cNvSpPr/>
          <p:nvPr/>
        </p:nvSpPr>
        <p:spPr>
          <a:xfrm rot="0">
            <a:off x="2845708" y="1961292"/>
            <a:ext cx="1626527" cy="219234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">
            <a:extLst>
              <a:ext uri="{AE68120F-9F6D-4635-8CF3-4335262A9FE4}">
                <a16:creationId xmlns:a16="http://schemas.microsoft.com/office/drawing/2010/main" id="{D7420BF5-D03A-49D1-A7C4-4F3D07BE6B09}"/>
              </a:ext>
            </a:extLst>
          </p:cNvPr>
          <p:cNvSpPr/>
          <p:nvPr/>
        </p:nvSpPr>
        <p:spPr>
          <a:xfrm rot="0">
            <a:off x="4594669" y="1396795"/>
            <a:ext cx="1626527" cy="219234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">
            <a:extLst>
              <a:ext uri="{488BEE4A-B62D-4E05-9F08-B0158CA2214E}">
                <a16:creationId xmlns:a16="http://schemas.microsoft.com/office/drawing/2010/main" id="{8B373C54-5BB8-4B32-A7CB-389868CA9C15}"/>
              </a:ext>
            </a:extLst>
          </p:cNvPr>
          <p:cNvSpPr/>
          <p:nvPr/>
        </p:nvSpPr>
        <p:spPr>
          <a:xfrm rot="0">
            <a:off x="6463960" y="1964655"/>
            <a:ext cx="1626527" cy="219234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6" name="Title 1">
            <a:extLst>
              <a:ext uri="{7968D2AE-442B-446F-9B83-084DB86B4B2B}">
                <a16:creationId xmlns:a16="http://schemas.microsoft.com/office/drawing/2010/main" id="{42CF765E-0B5B-43AC-A175-59B37A88C17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3"/>
            <a:ext cx="7620000" cy="7620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7" name="Picture Placeholder 2">
            <a:extLst>
              <a:ext uri="{78F1E1ED-7670-4D78-836B-D9B6EBA8E7DD}">
                <a16:creationId xmlns:a16="http://schemas.microsoft.com/office/drawing/2010/main" id="{669FE3E8-A045-408F-8FEF-D000B0471E36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49439" y="1398070"/>
            <a:ext cx="1654625" cy="2345617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8" name="Picture Placeholder 2">
            <a:extLst>
              <a:ext uri="{FE46CA30-6132-4328-B2E8-0E59BAC0ACAA}">
                <a16:creationId xmlns:a16="http://schemas.microsoft.com/office/drawing/2010/main" id="{90C4B00A-620B-4D9F-BC8A-EE22B7C52776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736846" y="2025377"/>
            <a:ext cx="1657350" cy="23431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Picture Placeholder 2">
            <a:extLst>
              <a:ext uri="{C12EC876-32C9-4686-95C8-5CCD397D298E}">
                <a16:creationId xmlns:a16="http://schemas.microsoft.com/office/drawing/2010/main" id="{CC19AD17-C8F4-4B7E-8148-697A1ABDC99F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65078" y="1483414"/>
            <a:ext cx="1657350" cy="23431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0" name="Picture Placeholder 2">
            <a:extLst>
              <a:ext uri="{3038AD17-4C92-4305-9726-FC266C2A3EC1}">
                <a16:creationId xmlns:a16="http://schemas.microsoft.com/office/drawing/2010/main" id="{5B7809E5-F27B-4DC3-A83A-B127D7AE4D9E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534369" y="2025377"/>
            <a:ext cx="1657350" cy="23431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Slide Number Placeholder 4">
            <a:extLst>
              <a:ext uri="{B1AB664D-D8A4-4D15-A357-BE3B978559E6}">
                <a16:creationId xmlns:a16="http://schemas.microsoft.com/office/drawing/2010/main" id="{62E10022-8C46-4841-9125-1B2179D0C7F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2" name="Footer Placeholder 3">
            <a:extLst>
              <a:ext uri="{1FE61F08-A9EE-4EFB-B91C-5D988E1C163F}">
                <a16:creationId xmlns:a16="http://schemas.microsoft.com/office/drawing/2010/main" id="{6516DF25-1BFD-42E8-A8CC-1D31FC12DEA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3" name="Date Placeholder 1">
            <a:extLst>
              <a:ext uri="{D6836735-5AE7-44B1-BF69-B38ECC851B25}">
                <a16:creationId xmlns:a16="http://schemas.microsoft.com/office/drawing/2010/main" id="{11DE0C34-A5B8-4F72-BBD0-8B59084B291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14" name="">
            <a:extLst>
              <a:ext uri="{39DC3200-B717-4A6F-9129-0DF547C36EA9}">
                <a16:creationId xmlns:a16="http://schemas.microsoft.com/office/drawing/2010/main" id="{10618F5C-01E3-488E-B4BC-8E1F32A50B21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5" name="">
            <a:extLst>
              <a:ext uri="{84CDE7A2-98C3-4152-A9AE-0F464F052625}">
                <a16:creationId xmlns:a16="http://schemas.microsoft.com/office/drawing/2010/main" id="{5123261B-5E3E-4645-8F2C-57BC38352AAB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9658" y="3909841"/>
            <a:ext cx="312639" cy="1393355"/>
            <a:chOff x="0" y="-57150"/>
            <a:chExt cx="362045" cy="1613535"/>
          </a:xfrm>
        </p:grpSpPr>
        <p:grpSp>
          <p:nvGrpSpPr>
            <p:cNvPr id="16" name="shape-5754">
              <a:extLst>
                <a:ext uri="{87C424B6-4C06-45EE-93F4-5DF8359A4D25}">
                  <a16:creationId xmlns:a16="http://schemas.microsoft.com/office/drawing/2010/main" id="{5F2CC3BE-787D-4A3A-8D63-DE41CBA882FD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7" name="shape-7013">
                <a:extLst>
                  <a:ext uri="{C8E56309-D151-4568-A96C-787120A3447A}">
                    <a16:creationId xmlns:a16="http://schemas.microsoft.com/office/drawing/2010/main" id="{AC32BDBC-6631-4876-8B8C-D25D7E6D7FD8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8" name="shape-30D5">
                <a:extLst>
                  <a:ext uri="{B69A3EE4-99AF-46C8-87BE-7BEBB66200EF}">
                    <a16:creationId xmlns:a16="http://schemas.microsoft.com/office/drawing/2010/main" id="{F011085E-8C67-4EA0-B246-13146547C174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custDataLst>
      <p:tags r:id="rId2"/>
    </p:custDataLst>
    <p:extLst>
      <p:ext uri="{0234F9E8-2F70-4264-9DEC-17CB614176AE}">
        <p14:creationId xmlns:p14="http://schemas.microsoft.com/office/powerpoint/2010/main" val="1772739933397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C0D42769-10EF-48AA-8ED6-9B508870AE7B}">
                <a16:creationId xmlns:a16="http://schemas.microsoft.com/office/drawing/2010/main" id="{3B4E8D2A-C8C1-4143-A6DC-6B242F50E78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1CEE4281-ACD4-410E-B97D-828681B74BEC}">
                <a16:creationId xmlns:a16="http://schemas.microsoft.com/office/drawing/2010/main" id="{2C578ACA-B594-4FBD-8F86-C4BDDF6D27C2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4" name="Slide Number Placeholder 5">
            <a:extLst>
              <a:ext uri="{0FAB09A6-A35A-4EB0-931F-457706532C22}">
                <a16:creationId xmlns:a16="http://schemas.microsoft.com/office/drawing/2010/main" id="{DC06BED1-6D86-4B76-AD40-DBD958DD27F8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5" name="Footer Placeholder 4">
            <a:extLst>
              <a:ext uri="{C4FB2BC6-E070-463B-B362-032D07ADB917}">
                <a16:creationId xmlns:a16="http://schemas.microsoft.com/office/drawing/2010/main" id="{523AF225-F840-4A5B-88C3-974E34D36159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6" name="Date Placeholder 3">
            <a:extLst>
              <a:ext uri="{FB501289-0FA4-46BA-9DBD-4FDC715E31FF}">
                <a16:creationId xmlns:a16="http://schemas.microsoft.com/office/drawing/2010/main" id="{A49EB05E-8BBA-42AB-8F6F-93DAF485B303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har char="•"/>
        <a:buClr>
          <a:srgbClr val="eb0000"/>
        </a:buClr>
        <a:buFont typeface="Arial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har char="-"/>
        <a:buClr>
          <a:schemeClr val="tx1">
            <a:lumMod val="50000"/>
            <a:lumOff val="50000"/>
          </a:schemeClr>
        </a:buClr>
        <a:buFont typeface="Arial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har char="-"/>
        <a:buClr>
          <a:schemeClr val="tx1">
            <a:lumMod val="50000"/>
            <a:lumOff val="50000"/>
          </a:schemeClr>
        </a:buClr>
        <a:buFont typeface="Arial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har char="-"/>
        <a:buClr>
          <a:schemeClr val="tx1">
            <a:lumMod val="50000"/>
            <a:lumOff val="50000"/>
          </a:schemeClr>
        </a:buClr>
        <a:buFont typeface="Arial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har char="-"/>
        <a:buClr>
          <a:schemeClr val="tx1">
            <a:lumMod val="50000"/>
            <a:lumOff val="50000"/>
          </a:schemeClr>
        </a:buClr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Char char="-"/>
        <a:buFont typeface="Arial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2" Target="../media/image8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2" Target="../media/image9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2" Target="../media/image10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C9FB376-C296-4D82-B05A-48B08153FA41}">
                <a16:creationId xmlns:a16="http://schemas.microsoft.com/office/drawing/2010/main" id="{40980B1F-F6CD-4775-88B6-8C276157399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Fraud Risk Intelligence</a:t>
            </a:r>
            <a:endParaRPr dirty="0" lang="en-US">
              <a:latin typeface="Lato"/>
            </a:endParaRPr>
          </a:p>
        </p:txBody>
      </p:sp>
      <p:sp>
        <p:nvSpPr>
          <p:cNvPr hidden="false" id="3" name="Subtitle 2">
            <a:extLst>
              <a:ext uri="{41F7CF43-74DF-4C2C-B0D4-46D3A75FCDA6}">
                <a16:creationId xmlns:a16="http://schemas.microsoft.com/office/drawing/2010/main" id="{F617D901-01EB-43CB-865C-C6B7CDF36322}"/>
              </a:ext>
            </a:extLst>
          </p:cNvPr>
          <p:cNvSpPr>
            <a:spLocks noGrp="true"/>
          </p:cNvSpPr>
          <p:nvPr>
            <p:ph idx="1" type="subTitle"/>
          </p:nvPr>
        </p:nvSpPr>
        <p:spPr/>
        <p:txBody>
          <a:bodyPr rtlCol="0"/>
          <a:lstStyle/>
          <a:p>
            <a:pPr/>
            <a:r>
              <a:rPr b="1" dirty="0" lang="en-US">
                <a:latin typeface="+mn-lt"/>
              </a:rPr>
              <a:t>BY Midhun </a:t>
            </a:r>
            <a:r>
              <a:rPr b="1" dirty="0" lang="en-US">
                <a:latin typeface="+mn-lt"/>
              </a:rPr>
              <a:t>Manohar</a:t>
            </a:r>
            <a:endParaRPr b="1" dirty="0" lang="en-US">
              <a:latin typeface="+mn-lt"/>
            </a:endParaRPr>
          </a:p>
        </p:txBody>
      </p:sp>
    </p:spTree>
    <p:extLst>
      <p:ext uri="{8EA0A3E0-B043-4A3C-ABD4-12A19FA8BCBD}">
        <p14:creationId xmlns:p14="http://schemas.microsoft.com/office/powerpoint/2010/main" val="1772739933399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EC1147B-9FE9-4B1A-B678-797816C4BD15}">
                <a16:creationId xmlns:a16="http://schemas.microsoft.com/office/drawing/2010/main" id="{6C8C7C7D-158E-4F48-91A3-421AE08977A5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Executive Summary</a:t>
            </a:r>
            <a:endParaRPr dirty="0" lang="en-US"/>
          </a:p>
        </p:txBody>
      </p:sp>
      <p:sp>
        <p:nvSpPr>
          <p:cNvPr id="3" name="Content Placeholder 2">
            <a:extLst>
              <a:ext uri="{B538E828-C618-4CF6-B973-366A3548E8A1}">
                <a16:creationId xmlns:a16="http://schemas.microsoft.com/office/drawing/2010/main" id="{63B0C0E7-C7C7-40AE-8782-7C9872F03701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500367" y="1239955"/>
            <a:ext cx="7986532" cy="3903554"/>
          </a:xfrm>
        </p:spPr>
        <p:txBody>
          <a:bodyPr anchor="b" rtlCol="0">
            <a:normAutofit fontScale="100000" lnSpcReduction="10000"/>
          </a:bodyPr>
          <a:lstStyle/>
          <a:p>
            <a:pPr/>
            <a:r>
              <a:rPr dirty="0" lang="en-US" sz="1600">
                <a:latin typeface="Lato"/>
              </a:rPr>
              <a:t>The objective is to minimize financial losses for </a:t>
            </a:r>
            <a:r>
              <a:rPr dirty="0" lang="en-US" sz="1600">
                <a:latin typeface="Lato"/>
              </a:rPr>
              <a:t>PaySphere</a:t>
            </a:r>
            <a:r>
              <a:rPr dirty="0" lang="en-US" sz="1600">
                <a:latin typeface="Lato"/>
              </a:rPr>
              <a:t> Digital Payments Pvt. Ltd. by detecting anomalous transactions prior to settlement.</a:t>
            </a:r>
          </a:p>
          <a:p>
            <a:pPr/>
            <a:r>
              <a:rPr dirty="0" lang="en-US" sz="1600"/>
              <a:t>Traditional rule-based system struggle to keep up with evolving fraud </a:t>
            </a:r>
            <a:r>
              <a:rPr dirty="0" err="1" lang="en-US" sz="1600"/>
              <a:t>tactics</a:t>
            </a:r>
            <a:r>
              <a:rPr dirty="0" lang="en-US" sz="1600"/>
              <a:t>, leading to slow manual reviews and high false-positive rates.</a:t>
            </a:r>
          </a:p>
          <a:p>
            <a:pPr/>
            <a:r>
              <a:rPr b="1" dirty="0" lang="en-US" sz="1600">
                <a:latin typeface="+mn-lt"/>
              </a:rPr>
              <a:t>Approach: </a:t>
            </a:r>
            <a:r>
              <a:rPr b="0" dirty="0" lang="en-US" sz="1600">
                <a:latin typeface="Lato"/>
              </a:rPr>
              <a:t>Developed a robust machine learning pipeline that identifies complex, non-linear fraud patterns within transaction data.</a:t>
            </a:r>
          </a:p>
          <a:p>
            <a:pPr/>
            <a:r>
              <a:rPr b="1" dirty="0" lang="en-US" sz="1600">
                <a:latin typeface="Lato"/>
              </a:rPr>
              <a:t>Deliverable: </a:t>
            </a:r>
            <a:r>
              <a:rPr b="0" dirty="0" lang="en-US" sz="1600">
                <a:latin typeface="Lato"/>
              </a:rPr>
              <a:t>An interactive, real-time Fraud Risk Intelligence dashboard built with Streamlit, empowering risk analysts to make faster, data-backed decisions.</a:t>
            </a:r>
          </a:p>
          <a:p>
            <a:pPr/>
            <a:r>
              <a:rPr b="1" dirty="0" lang="en-US" sz="1600">
                <a:latin typeface="Lato"/>
              </a:rPr>
              <a:t>Result: </a:t>
            </a:r>
            <a:r>
              <a:rPr b="0" dirty="0" lang="en-US" sz="1600">
                <a:latin typeface="Lato"/>
              </a:rPr>
              <a:t>Model has to achieved </a:t>
            </a:r>
            <a:r>
              <a:rPr b="0" dirty="0" lang="en-US" sz="1600">
                <a:latin typeface="Lato"/>
              </a:rPr>
              <a:t>better accuracy in fraud detection</a:t>
            </a:r>
            <a:r>
              <a:rPr b="0" dirty="0" lang="en-US" sz="1600">
                <a:latin typeface="Lato"/>
              </a:rPr>
              <a:t>, improving the overall performance compared to baseline rule-based systems and enabling more reliable identification of fraudulent transactions.</a:t>
            </a:r>
          </a:p>
          <a:p>
            <a:pPr/>
            <a:r>
              <a:rPr b="0" dirty="0" lang="en-US">
                <a:latin typeface="Lato"/>
              </a:rPr>
              <a:t/>
            </a:r>
          </a:p>
          <a:p>
            <a:pPr/>
            <a:r>
              <a:rPr dirty="0" lang="en-US"/>
              <a:t/>
            </a:r>
            <a:endParaRPr dirty="0" lang="en-US"/>
          </a:p>
        </p:txBody>
      </p:sp>
    </p:spTree>
    <p:extLst>
      <p:ext uri="{F6C793AE-93C0-41BB-814E-DAA37CA97F92}">
        <p14:creationId xmlns:p14="http://schemas.microsoft.com/office/powerpoint/2010/main" val="1772739933400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1F4E815-D0FE-4E7D-9CDA-BABA835F4F5E}">
                <a16:creationId xmlns:a16="http://schemas.microsoft.com/office/drawing/2010/main" id="{9AAF1802-D9F6-414B-900B-ED0EDE90D36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Business Impact</a:t>
            </a:r>
            <a:endParaRPr dirty="0" lang="en-US">
              <a:latin typeface="Lato"/>
            </a:endParaRPr>
          </a:p>
        </p:txBody>
      </p:sp>
      <p:sp>
        <p:nvSpPr>
          <p:cNvPr id="3" name="Content Placeholder 2">
            <a:extLst>
              <a:ext uri="{F2761536-1B66-44B4-B23D-F4FA0693936E}">
                <a16:creationId xmlns:a16="http://schemas.microsoft.com/office/drawing/2010/main" id="{0A108161-E95E-4B06-9FDD-E4652A6BF863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Blocking a legitimate user doesn't just lose us that single transaction. It creates a terrible user experience that damages brand trust, drives high-value customers straight to competitors, and destroys long-term Customer Lifetime Value (</a:t>
            </a:r>
            <a:r>
              <a:rPr dirty="0" lang="en-US">
                <a:latin typeface="Lato"/>
              </a:rPr>
              <a:t>CLV</a:t>
            </a:r>
            <a:r>
              <a:rPr dirty="0" lang="en-US">
                <a:latin typeface="Lato"/>
              </a:rPr>
              <a:t>).</a:t>
            </a:r>
          </a:p>
          <a:p>
            <a:pPr/>
            <a:r>
              <a:rPr b="1" dirty="0" lang="en-US">
                <a:latin typeface="Lato"/>
              </a:rPr>
              <a:t>The Target—Mastering the Precision-Recall Balance:</a:t>
            </a:r>
            <a:r>
              <a:rPr dirty="0" lang="en-US">
                <a:latin typeface="Lato"/>
              </a:rPr>
              <a:t> Pure accuracy is a vanity metric in fraud detection.</a:t>
            </a:r>
          </a:p>
          <a:p>
            <a:pPr indent="0" lvl="1" marL="400050">
              <a:buNone/>
            </a:pPr>
            <a:r>
              <a:rPr dirty="0" lang="en-US">
                <a:latin typeface="Lato"/>
              </a:rPr>
              <a:t/>
            </a:r>
          </a:p>
          <a:p>
            <a:pPr indent="-285750" lvl="1" marL="685800">
              <a:buChar char=""/>
              <a:buFont typeface="Wingdings"/>
            </a:pPr>
            <a:r>
              <a:rPr b="1" dirty="0" lang="en-US" sz="1600">
                <a:solidFill>
                  <a:schemeClr val="tx1"/>
                </a:solidFill>
                <a:latin typeface="Lato"/>
              </a:rPr>
              <a:t>The main goal is </a:t>
            </a:r>
            <a:r>
              <a:rPr b="1" dirty="0" lang="en-US" sz="1600">
                <a:solidFill>
                  <a:schemeClr val="tx1"/>
                </a:solidFill>
                <a:latin typeface="Lato"/>
              </a:rPr>
              <a:t>maximizing </a:t>
            </a:r>
            <a:r>
              <a:rPr b="1" dirty="0" i="1" lang="en-US" sz="1600">
                <a:solidFill>
                  <a:schemeClr val="tx1"/>
                </a:solidFill>
                <a:latin typeface="Lato"/>
              </a:rPr>
              <a:t>Recall</a:t>
            </a:r>
            <a:r>
              <a:rPr b="1" dirty="0" lang="en-US" sz="1600">
                <a:solidFill>
                  <a:schemeClr val="tx1"/>
                </a:solidFill>
                <a:latin typeface="Lato"/>
              </a:rPr>
              <a:t> (catching as many bad actors as possible) while maintaining sky-high </a:t>
            </a:r>
            <a:r>
              <a:rPr b="1" dirty="0" i="1" lang="en-US" sz="1600">
                <a:solidFill>
                  <a:schemeClr val="tx1"/>
                </a:solidFill>
                <a:latin typeface="Lato"/>
              </a:rPr>
              <a:t>Precision</a:t>
            </a:r>
            <a:r>
              <a:rPr b="1" dirty="0" lang="en-US" sz="1600">
                <a:solidFill>
                  <a:schemeClr val="tx1"/>
                </a:solidFill>
                <a:latin typeface="Lato"/>
              </a:rPr>
              <a:t> (ensuring that when we flag someone, we are confident they are actually a threat, minimizing friction for the good guys).</a:t>
            </a:r>
            <a:endParaRPr b="1" dirty="0" lang="en-US" sz="1600">
              <a:solidFill>
                <a:schemeClr val="tx1"/>
              </a:solidFill>
              <a:latin typeface="Lato"/>
            </a:endParaRPr>
          </a:p>
        </p:txBody>
      </p:sp>
    </p:spTree>
    <p:extLst>
      <p:ext uri="{7F5B13F5-3347-4576-A8B3-DC62E1434CC0}">
        <p14:creationId xmlns:p14="http://schemas.microsoft.com/office/powerpoint/2010/main" val="1772739933401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145378E-FD54-44B6-836A-60E664A27737}">
                <a16:creationId xmlns:a16="http://schemas.microsoft.com/office/drawing/2010/main" id="{9EC52380-1829-4117-A4D6-27323CE8C9DA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Data Ingestion</a:t>
            </a:r>
            <a:endParaRPr dirty="0" lang="en-US"/>
          </a:p>
        </p:txBody>
      </p:sp>
      <p:sp>
        <p:nvSpPr>
          <p:cNvPr id="3" name="Content Placeholder 2">
            <a:extLst>
              <a:ext uri="{24A0ECBA-239D-4F68-8F6C-BA3AA22A0E27}">
                <a16:creationId xmlns:a16="http://schemas.microsoft.com/office/drawing/2010/main" id="{C1FC6EB9-29AA-4248-AB82-4FFD846A719E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We started by securely extracting raw historical transaction logs.</a:t>
            </a:r>
          </a:p>
          <a:p>
            <a:pPr indent="0" lvl="1" marL="400050"/>
            <a:r>
              <a:rPr dirty="0" lang="en-US">
                <a:latin typeface="Lato"/>
              </a:rPr>
              <a:t/>
            </a:r>
          </a:p>
          <a:p>
            <a:pPr indent="-285750" lvl="1" marL="400050">
              <a:buChar char=""/>
              <a:buFont typeface="Wingdings"/>
            </a:pPr>
            <a:r>
              <a:rPr b="1" dirty="0" lang="en-US" sz="1600">
                <a:solidFill>
                  <a:schemeClr val="tx1"/>
                </a:solidFill>
                <a:latin typeface="Lato"/>
              </a:rPr>
              <a:t>The dataset (</a:t>
            </a:r>
            <a:r>
              <a:rPr b="1" dirty="0" i="1" lang="en-US" sz="1600">
                <a:solidFill>
                  <a:schemeClr val="tx1"/>
                </a:solidFill>
                <a:latin typeface="Lato"/>
              </a:rPr>
              <a:t>transaction_fraud.csv</a:t>
            </a:r>
            <a:r>
              <a:rPr b="1" dirty="0" lang="en-US" sz="1600">
                <a:solidFill>
                  <a:schemeClr val="tx1"/>
                </a:solidFill>
                <a:latin typeface="Lato"/>
              </a:rPr>
              <a:t>) includes January–March transaction records, consisting of 50,000 observations and 25 features capturing customer, device, and transaction-level attributes.</a:t>
            </a:r>
          </a:p>
          <a:p>
            <a:pPr indent="0" lvl="1" marL="114300">
              <a:buNone/>
            </a:pPr>
            <a:r>
              <a:rPr b="1" dirty="0" lang="en-US" sz="1600">
                <a:solidFill>
                  <a:schemeClr val="tx1"/>
                </a:solidFill>
                <a:latin typeface="Lato"/>
              </a:rPr>
              <a:t/>
            </a:r>
          </a:p>
          <a:p>
            <a:pPr indent="0" lvl="1" marL="114300">
              <a:buNone/>
            </a:pPr>
            <a:r>
              <a:rPr b="1" dirty="0" lang="en-US" sz="1600">
                <a:solidFill>
                  <a:schemeClr val="tx1"/>
                </a:solidFill>
                <a:latin typeface="Lato"/>
              </a:rPr>
              <a:t/>
            </a:r>
          </a:p>
          <a:p>
            <a:pPr indent="0" lvl="1" marL="114300">
              <a:buNone/>
            </a:pPr>
            <a:r>
              <a:rPr b="1" dirty="0" lang="en-US" sz="1600">
                <a:solidFill>
                  <a:schemeClr val="tx1"/>
                </a:solidFill>
                <a:latin typeface="Lato"/>
              </a:rPr>
              <a:t/>
            </a:r>
          </a:p>
          <a:p>
            <a:pPr indent="-285750" lvl="1" marL="400050">
              <a:buChar char="•"/>
              <a:buFont typeface="Arial"/>
            </a:pPr>
            <a:r>
              <a:rPr b="0" dirty="0" lang="en-US" sz="1600">
                <a:solidFill>
                  <a:schemeClr val="tx1"/>
                </a:solidFill>
                <a:latin typeface="Lato"/>
              </a:rPr>
              <a:t>This formed the foundational dataset needed to teach the model what "normal" versus "fraudulent" behavior looks like.</a:t>
            </a:r>
            <a:endParaRPr b="0" dirty="0" lang="en-US" sz="1600">
              <a:solidFill>
                <a:schemeClr val="tx1"/>
              </a:solidFill>
              <a:latin typeface="Lato"/>
            </a:endParaRPr>
          </a:p>
        </p:txBody>
      </p:sp>
      <p:pic>
        <p:nvPicPr>
          <p:cNvPr id="4" name="Image 3">
            <a:extLst>
              <a:ext uri="{2D82A004-8A31-4A27-9A62-81F976AE2A18}">
                <a16:creationId xmlns:a16="http://schemas.microsoft.com/office/drawing/2010/main" id="{7E76E452-DAB9-4B7B-8D01-3274452A5C6E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6175228" y="2776518"/>
            <a:ext cx="831808" cy="831808"/>
          </a:xfrm>
          <a:prstGeom prst="rect">
            <a:avLst/>
          </a:prstGeom>
          <a:noFill/>
        </p:spPr>
      </p:pic>
    </p:spTree>
    <p:extLst>
      <p:ext uri="{34A521D2-BC1D-4684-ABB3-1170D4103286}">
        <p14:creationId xmlns:p14="http://schemas.microsoft.com/office/powerpoint/2010/main" val="1772739933401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A28C4F-E69E-4E83-9BA4-A972A92EE8BC}">
                <a16:creationId xmlns:a16="http://schemas.microsoft.com/office/drawing/2010/main" id="{6C927CE8-E315-4F6F-B6EF-76BB7E0CA11E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Data Exploration</a:t>
            </a:r>
            <a:endParaRPr dirty="0" lang="en-US">
              <a:latin typeface="Lato"/>
            </a:endParaRPr>
          </a:p>
        </p:txBody>
      </p:sp>
      <p:sp>
        <p:nvSpPr>
          <p:cNvPr id="3" name="Content Placeholder 2">
            <a:extLst>
              <a:ext uri="{8B426916-C55B-4911-B546-9D4B585F4425}">
                <a16:creationId xmlns:a16="http://schemas.microsoft.com/office/drawing/2010/main" id="{07B80841-1DFC-4778-B2D9-FBEF34881871}"/>
              </a:ext>
            </a:extLst>
          </p:cNvPr>
          <p:cNvSpPr>
            <a:spLocks noChangeAspect="false" noGrp="true"/>
          </p:cNvSpPr>
          <p:nvPr>
            <p:ph idx="1"/>
          </p:nvPr>
        </p:nvSpPr>
        <p:spPr>
          <a:xfrm rot="0">
            <a:off x="762000" y="1428750"/>
            <a:ext cx="7620000" cy="3328320"/>
          </a:xfrm>
        </p:spPr>
        <p:txBody>
          <a:bodyPr rtlCol="0">
            <a:normAutofit fontScale="100000" lnSpcReduction="0"/>
          </a:bodyPr>
          <a:lstStyle/>
          <a:p>
            <a:pPr/>
            <a:r>
              <a:rPr dirty="0" lang="en-US">
                <a:latin typeface="Lato"/>
              </a:rPr>
              <a:t/>
            </a:r>
          </a:p>
          <a:p>
            <a:pPr/>
            <a:r>
              <a:rPr dirty="0" lang="en-US">
                <a:latin typeface="Lato"/>
              </a:rPr>
              <a:t/>
            </a:r>
          </a:p>
          <a:p>
            <a:pPr/>
            <a:r>
              <a:rPr dirty="0" lang="en-US">
                <a:latin typeface="Consolas"/>
              </a:rPr>
              <a:t/>
            </a:r>
          </a:p>
          <a:p>
            <a:pPr/>
            <a:r>
              <a:rPr dirty="0" lang="en-US">
                <a:latin typeface="Consolas"/>
              </a:rPr>
              <a:t/>
            </a:r>
          </a:p>
          <a:p>
            <a:pPr/>
            <a:r>
              <a:rPr dirty="0" lang="en-US">
                <a:latin typeface="Consolas"/>
              </a:rPr>
              <a:t/>
            </a:r>
            <a:endParaRPr dirty="0" lang="en-US">
              <a:latin typeface="Consolas"/>
            </a:endParaRPr>
          </a:p>
        </p:txBody>
      </p:sp>
      <p:pic>
        <p:nvPicPr>
          <p:cNvPr id="4" name="Image 3">
            <a:extLst>
              <a:ext uri="{8520F4B4-3FE5-48BD-9444-C9544CD28CFB}">
                <a16:creationId xmlns:a16="http://schemas.microsoft.com/office/drawing/2010/main" id="{0AA10703-B278-4D98-AC86-F3D1B24DD364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2583808" y="1287027"/>
            <a:ext cx="3793922" cy="3434600"/>
          </a:xfrm>
          <a:prstGeom prst="rect">
            <a:avLst/>
          </a:prstGeom>
          <a:noFill/>
        </p:spPr>
      </p:pic>
      <p:sp>
        <p:nvSpPr>
          <p:cNvPr id="5" name="Text Box 4">
            <a:extLst>
              <a:ext uri="{F71C8653-F630-43AA-B7E4-0C023DBD54C4}">
                <a16:creationId xmlns:a16="http://schemas.microsoft.com/office/drawing/2010/main" id="{FEDACC75-1A87-405D-9950-4F970CD5AC42}"/>
              </a:ext>
            </a:extLst>
          </p:cNvPr>
          <p:cNvSpPr txBox="1"/>
          <p:nvPr/>
        </p:nvSpPr>
        <p:spPr>
          <a:xfrm flipH="false" flipV="false" rot="0">
            <a:off x="6536483" y="3253397"/>
            <a:ext cx="2451982" cy="1375067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Char char=""/>
              <a:buFont typeface="Wingdings"/>
              <a:defRPr dirty="0" lang="en-US" sz="1400"/>
            </a:pPr>
            <a:r>
              <a:rPr dirty="0" lang="en-US">
                <a:latin typeface="Lato"/>
              </a:rPr>
              <a:t>The dataset contains approximately 10.1% fraudulent and 90% genuine transactions, indicating a moderate class imbalance.</a:t>
            </a:r>
            <a:endParaRPr dirty="0" lang="en-US">
              <a:latin typeface="Lato"/>
            </a:endParaRPr>
          </a:p>
        </p:txBody>
      </p:sp>
      <p:sp>
        <p:nvSpPr>
          <p:cNvPr id="6" name="Text Box 6">
            <a:extLst>
              <a:ext uri="{99B88C90-AEE4-4201-8664-D2AA928E5704}">
                <a16:creationId xmlns:a16="http://schemas.microsoft.com/office/drawing/2010/main" id="{DE29A10C-D048-4923-BAAA-DD86828325A6}"/>
              </a:ext>
            </a:extLst>
          </p:cNvPr>
          <p:cNvSpPr txBox="1"/>
          <p:nvPr/>
        </p:nvSpPr>
        <p:spPr>
          <a:xfrm flipH="false" flipV="false" rot="0">
            <a:off x="239582" y="1476375"/>
            <a:ext cx="2730045" cy="1375067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Char char=""/>
              <a:buFont typeface="Wingdings"/>
              <a:defRPr dirty="0" lang="en-US" sz="1400"/>
            </a:pPr>
            <a:r>
              <a:rPr dirty="0" lang="en-US">
                <a:latin typeface="Lato"/>
              </a:rPr>
              <a:t>Exploratory analysis revealed that the dataset is </a:t>
            </a:r>
            <a:r>
              <a:rPr dirty="0" lang="en-US">
                <a:latin typeface="Lato"/>
              </a:rPr>
              <a:t>moderate</a:t>
            </a:r>
            <a:r>
              <a:rPr dirty="0" lang="en-US">
                <a:latin typeface="Lato"/>
              </a:rPr>
              <a:t> imbalanced, with significantly fewer fraud cases compared to legitimate transactions.</a:t>
            </a:r>
            <a:endParaRPr dirty="0" lang="en-US">
              <a:latin typeface="Lato"/>
            </a:endParaRPr>
          </a:p>
        </p:txBody>
      </p:sp>
    </p:spTree>
    <p:extLst>
      <p:ext uri="{4A947B2D-3DB0-431A-BC32-30B118B1857D}">
        <p14:creationId xmlns:p14="http://schemas.microsoft.com/office/powerpoint/2010/main" val="1772739933402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CF30098-6174-4CCA-9150-57BCB755F19A}">
                <a16:creationId xmlns:a16="http://schemas.microsoft.com/office/drawing/2010/main" id="{ADB3BB10-FE62-441D-A702-550A9D34B3F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Data Preprocessing</a:t>
            </a:r>
            <a:endParaRPr dirty="0" lang="en-US">
              <a:latin typeface="Lato"/>
            </a:endParaRPr>
          </a:p>
        </p:txBody>
      </p:sp>
      <p:sp>
        <p:nvSpPr>
          <p:cNvPr id="3" name="Content Placeholder 2">
            <a:extLst>
              <a:ext uri="{3A3A7AE4-E8AA-4204-84F1-9D91DE6752DE}">
                <a16:creationId xmlns:a16="http://schemas.microsoft.com/office/drawing/2010/main" id="{3AAD732C-7DC4-41D0-AA51-295D60E3B3A2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Comprehensive data quality checks revealed </a:t>
            </a:r>
            <a:r>
              <a:rPr b="1" dirty="0" lang="en-US">
                <a:latin typeface="Lato"/>
              </a:rPr>
              <a:t>no missing values or duplicate records</a:t>
            </a:r>
            <a:r>
              <a:rPr dirty="0" lang="en-US">
                <a:latin typeface="Lato"/>
              </a:rPr>
              <a:t>. Further validation </a:t>
            </a:r>
            <a:r>
              <a:rPr b="1" dirty="0" lang="en-US">
                <a:latin typeface="Lato"/>
              </a:rPr>
              <a:t>confirmed consistency and integrity across both numerical and categorical variables</a:t>
            </a:r>
            <a:r>
              <a:rPr dirty="0" lang="en-US">
                <a:latin typeface="Lato"/>
              </a:rPr>
              <a:t>, with no anomalous or invalid entries detected.</a:t>
            </a:r>
          </a:p>
          <a:p>
            <a:pPr/>
            <a:r>
              <a:rPr b="1" dirty="0" lang="en-US">
                <a:latin typeface="Lato"/>
              </a:rPr>
              <a:t>Preventing Data Leakage:</a:t>
            </a:r>
            <a:r>
              <a:rPr dirty="0" lang="en-US">
                <a:latin typeface="Lato"/>
              </a:rPr>
              <a:t> </a:t>
            </a:r>
            <a:r>
              <a:rPr dirty="0" lang="en-US">
                <a:latin typeface="Lato"/>
              </a:rPr>
              <a:t>The data was divided into training and testing sets before performing any resampling or balancing. This prevents data leakage and ensures the model is evaluated fairly on new, unseen transactions.</a:t>
            </a:r>
            <a:endParaRPr dirty="0" lang="en-US">
              <a:latin typeface="Lato"/>
            </a:endParaRPr>
          </a:p>
        </p:txBody>
      </p:sp>
      <p:pic>
        <p:nvPicPr>
          <p:cNvPr id="4" name="Image 3">
            <a:extLst>
              <a:ext uri="{9D4DAD8C-374B-4F15-8657-680D0544E24E}">
                <a16:creationId xmlns:a16="http://schemas.microsoft.com/office/drawing/2010/main" id="{7F723F15-5FCA-48A1-9804-A6EE9D64D7F4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5671290" y="3653428"/>
            <a:ext cx="1299552" cy="1299552"/>
          </a:xfrm>
          <a:prstGeom prst="rect">
            <a:avLst/>
          </a:prstGeom>
          <a:noFill/>
        </p:spPr>
      </p:pic>
      <p:pic>
        <p:nvPicPr>
          <p:cNvPr id="5" name="Image 4">
            <a:extLst>
              <a:ext uri="{E992429B-94E5-4912-92AE-F59A40754C63}">
                <a16:creationId xmlns:a16="http://schemas.microsoft.com/office/drawing/2010/main" id="{93F99E48-02F4-459D-93A3-2AB40815FF5D}"/>
              </a:ext>
            </a:extLst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4130364" y="3653428"/>
            <a:ext cx="934697" cy="934697"/>
          </a:xfrm>
          <a:prstGeom prst="rect">
            <a:avLst/>
          </a:prstGeom>
          <a:noFill/>
        </p:spPr>
      </p:pic>
    </p:spTree>
    <p:extLst>
      <p:ext uri="{3DC3AC8D-B21A-47DF-8A9C-ADFC46699064}">
        <p14:creationId xmlns:p14="http://schemas.microsoft.com/office/powerpoint/2010/main" val="1772739933403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6930978-F21A-4E20-B2DA-9A10D6BC73C0}">
                <a16:creationId xmlns:a16="http://schemas.microsoft.com/office/drawing/2010/main" id="{DACE48CB-0310-4F52-82CC-E0F09BB8D2D2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 Feature Engineering</a:t>
            </a:r>
            <a:endParaRPr dirty="0" lang="en-US">
              <a:latin typeface="Lato"/>
            </a:endParaRPr>
          </a:p>
        </p:txBody>
      </p:sp>
      <p:sp>
        <p:nvSpPr>
          <p:cNvPr id="3" name="Content Placeholder 2">
            <a:extLst>
              <a:ext uri="{3482895B-BA30-47A3-9AA3-22C54E440F4A}">
                <a16:creationId xmlns:a16="http://schemas.microsoft.com/office/drawing/2010/main" id="{64A57A00-72E0-4721-BBA1-5DF082E754A3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 sz="1300">
                <a:latin typeface="Consolas"/>
              </a:rPr>
              <a:t>Feature engineering enhances raw transaction data by creating meaningful patterns that improve fraud detection, especially since fraudulent transactions are rare and closely resemble legitimate ones.</a:t>
            </a:r>
            <a:endParaRPr dirty="0" lang="en-US" sz="1300">
              <a:latin typeface="Consolas"/>
            </a:endParaRPr>
          </a:p>
        </p:txBody>
      </p:sp>
      <p:grpSp>
        <p:nvGrpSpPr>
          <p:cNvPr id="4" name="Process Diagram 3">
            <a:extLst>
              <a:ext uri="{564F9A1C-FA39-4A15-AC77-47A69231CF4E}">
                <a16:creationId xmlns:a16="http://schemas.microsoft.com/office/drawing/2010/main" id="{D9245AFD-516B-4B34-84A4-78F82CF03B89}"/>
              </a:ext>
            </a:extLst>
          </p:cNvPr>
          <p:cNvGrpSpPr>
            <a:grpSpLocks noChangeAspect="true"/>
          </p:cNvGrpSpPr>
          <p:nvPr/>
        </p:nvGrpSpPr>
        <p:grpSpPr>
          <a:xfrm flipH="false" flipV="false" rot="0">
            <a:off x="419357" y="2592190"/>
            <a:ext cx="4423819" cy="2094490"/>
            <a:chOff x="381000" y="0"/>
            <a:chExt cx="8286748" cy="3923423"/>
          </a:xfrm>
        </p:grpSpPr>
        <p:grpSp>
          <p:nvGrpSpPr>
            <p:cNvPr id="5" name="">
              <a:extLst>
                <a:ext uri="{0258F2CE-681D-4C26-8606-C720C04CA502}">
                  <a16:creationId xmlns:a16="http://schemas.microsoft.com/office/drawing/2010/main" id="{2318DD9C-90FD-44C0-86A2-5AC58B5081D5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381000" y="0"/>
              <a:ext cx="1333499" cy="3043537"/>
              <a:chOff x="381000" y="0"/>
              <a:chExt cx="1333499" cy="3043537"/>
            </a:xfrm>
          </p:grpSpPr>
          <p:sp>
            <p:nvSpPr>
              <p:cNvPr id="6" name="Octagon  - Process Diagram 3 ">
                <a:extLst>
                  <a:ext uri="{F95E66D2-E906-43B9-B79B-67279B63ADB7}">
                    <a16:creationId xmlns:a16="http://schemas.microsoft.com/office/drawing/2010/main" id="{5A739256-5A8E-439E-9002-818DCA216BBA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381000" y="1747195"/>
                <a:ext cx="1296342" cy="1296342"/>
              </a:xfrm>
              <a:prstGeom prst="octagon">
                <a:avLst/>
              </a:prstGeom>
              <a:solidFill>
                <a:schemeClr val="accent1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2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2"/>
                  </a:solidFill>
                  <a:latin typeface="+mn-lt"/>
                </a:endParaRPr>
              </a:p>
            </p:txBody>
          </p:sp>
          <p:sp>
            <p:nvSpPr>
              <p:cNvPr id="7" name="">
                <a:extLst>
                  <a:ext uri="{253FBD04-AF29-41D4-A7FC-24EBEF3758E4}">
                    <a16:creationId xmlns:a16="http://schemas.microsoft.com/office/drawing/2010/main" id="{A47D8B32-7DD8-4803-A476-895943BD20EB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421054" y="1711366"/>
                <a:ext cx="1293445" cy="1293445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8" name="Octagon  - Process Diagram 3 ">
                <a:extLst>
                  <a:ext uri="{623AA20C-55FA-46CC-B5EC-44745143C9CF}">
                    <a16:creationId xmlns:a16="http://schemas.microsoft.com/office/drawing/2010/main" id="{CE973CC1-0979-4F4B-97BD-131F61FB244E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381000" y="1743075"/>
                <a:ext cx="1296342" cy="1296342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lvl="0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900">
                    <a:solidFill>
                      <a:srgbClr val="ffc000"/>
                    </a:solidFill>
                    <a:latin typeface="Alegreya"/>
                  </a:rPr>
                  <a:t>cust_txn_count</a:t>
                </a:r>
                <a:endParaRPr b="1" dirty="0" lang="en-US" sz="900">
                  <a:solidFill>
                    <a:srgbClr val="ffc000"/>
                  </a:solidFill>
                  <a:latin typeface="Alegreya"/>
                </a:endParaRPr>
              </a:p>
            </p:txBody>
          </p:sp>
          <p:cxnSp>
            <p:nvCxnSpPr>
              <p:cNvPr id="9" name="">
                <a:extLst>
                  <a:ext uri="{F0DE9C43-C4D0-4532-A495-B3278EECF995}">
                    <a16:creationId xmlns:a16="http://schemas.microsoft.com/office/drawing/2010/main" id="{AF5B807C-1EB1-43B9-9E2F-920D4B735D5E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226704" y="828979"/>
                <a:ext cx="1657959" cy="0"/>
              </a:xfrm>
              <a:prstGeom prst="line">
                <a:avLst/>
              </a:prstGeom>
              <a:ln cap="flat" w="19050">
                <a:solidFill>
                  <a:schemeClr val="accent1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10" name="Oval  - Process Diagram 3 ">
                <a:extLst>
                  <a:ext uri="{AB3C4AA6-CF12-46D5-8AB5-37AFD52CF0B5}">
                    <a16:creationId xmlns:a16="http://schemas.microsoft.com/office/drawing/2010/main" id="{2DCCD4C7-C8E8-4BF5-A3D4-F53BCC23E763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908386" y="117730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fff652"/>
                    </a:solidFill>
                    <a:latin typeface="+mn-lt"/>
                  </a:rPr>
                  <a:t>01</a:t>
                </a:r>
                <a:endParaRPr b="1" dirty="0" lang="en-US" sz="700">
                  <a:solidFill>
                    <a:srgbClr val="fff652"/>
                  </a:solidFill>
                  <a:latin typeface="+mn-lt"/>
                </a:endParaRPr>
              </a:p>
            </p:txBody>
          </p:sp>
        </p:grpSp>
        <p:grpSp>
          <p:nvGrpSpPr>
            <p:cNvPr id="11" name="">
              <a:extLst>
                <a:ext uri="{D2DB41A5-BA54-42E8-8CEE-B03D73E2E333}">
                  <a16:creationId xmlns:a16="http://schemas.microsoft.com/office/drawing/2010/main" id="{18676C33-E663-4619-B1B6-926F0A14D624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1762125" y="0"/>
              <a:ext cx="1343022" cy="3923423"/>
              <a:chOff x="1762125" y="0"/>
              <a:chExt cx="1343022" cy="3923423"/>
            </a:xfrm>
          </p:grpSpPr>
          <p:sp>
            <p:nvSpPr>
              <p:cNvPr id="12" name="Octagon  - Process Diagram 3 ">
                <a:extLst>
                  <a:ext uri="{158DB636-59D3-4D54-AAD8-8270AA3F463E}">
                    <a16:creationId xmlns:a16="http://schemas.microsoft.com/office/drawing/2010/main" id="{639BD995-38A3-40DD-B54F-C391E4CC3C36}"/>
                  </a:ext>
                </a:extLst>
              </p:cNvPr>
              <p:cNvSpPr>
                <a:spLocks noMove="true" noResize="true" noRot="true" noSelect="true"/>
              </p:cNvSpPr>
              <p:nvPr/>
            </p:nvSpPr>
            <p:spPr>
              <a:xfrm flipH="false" flipV="false" rot="0">
                <a:off x="1771648" y="2627080"/>
                <a:ext cx="1296342" cy="1296342"/>
              </a:xfrm>
              <a:prstGeom prst="octagon">
                <a:avLst/>
              </a:prstGeom>
              <a:solidFill>
                <a:schemeClr val="accent2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dirty="0" lang="en-US" sz="1000"/>
                  <a:t/>
                </a:r>
                <a:endParaRPr dirty="0" lang="en-US" sz="1000"/>
              </a:p>
            </p:txBody>
          </p:sp>
          <p:sp>
            <p:nvSpPr>
              <p:cNvPr id="13" name="">
                <a:extLst>
                  <a:ext uri="{B595CA42-0A50-4850-BE1B-AE8A4117D063}">
                    <a16:creationId xmlns:a16="http://schemas.microsoft.com/office/drawing/2010/main" id="{28E7F8DD-00A0-4B96-9BA0-E0572B80A40B}"/>
                  </a:ext>
                </a:extLst>
              </p:cNvPr>
              <p:cNvSpPr>
                <a:spLocks noMove="true" noResize="true" noRot="true" noSelect="true"/>
              </p:cNvSpPr>
              <p:nvPr/>
            </p:nvSpPr>
            <p:spPr>
              <a:xfrm flipH="false" flipV="false" rot="0">
                <a:off x="1811702" y="2591251"/>
                <a:ext cx="1293445" cy="1293445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2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2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14" name="Octagon  - Process Diagram 3 ">
                <a:extLst>
                  <a:ext uri="{DD998AF2-079B-4DFB-B06C-910945D66560}">
                    <a16:creationId xmlns:a16="http://schemas.microsoft.com/office/drawing/2010/main" id="{07DB6663-7D80-4AF0-8250-F7A3494878EE}"/>
                  </a:ext>
                </a:extLst>
              </p:cNvPr>
              <p:cNvSpPr>
                <a:spLocks noMove="true" noResize="true" noRot="true" noSelect="true"/>
              </p:cNvSpPr>
              <p:nvPr/>
            </p:nvSpPr>
            <p:spPr>
              <a:xfrm flipH="false" flipV="false" rot="0">
                <a:off x="1762125" y="2619375"/>
                <a:ext cx="1296342" cy="1296342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b="1" dirty="0" lang="en-US" sz="800">
                    <a:solidFill>
                      <a:srgbClr val="c00000"/>
                    </a:solidFill>
                    <a:latin typeface="Alegreya"/>
                  </a:rPr>
                  <a:t>cust_fraud_count</a:t>
                </a:r>
                <a:endParaRPr b="1" dirty="0" lang="en-US" sz="800">
                  <a:solidFill>
                    <a:srgbClr val="c00000"/>
                  </a:solidFill>
                  <a:latin typeface="Alegreya"/>
                </a:endParaRPr>
              </a:p>
            </p:txBody>
          </p:sp>
          <p:cxnSp>
            <p:nvCxnSpPr>
              <p:cNvPr id="15" name="Connector  - Process Diagram 3 ">
                <a:extLst>
                  <a:ext uri="{A7E8EB74-834E-4662-AD7B-0DD8AE91415D}">
                    <a16:creationId xmlns:a16="http://schemas.microsoft.com/office/drawing/2010/main" id="{91067803-65FF-4C04-833B-470F154C23F3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1177413" y="1268920"/>
                <a:ext cx="2537841" cy="0"/>
              </a:xfrm>
              <a:prstGeom prst="line">
                <a:avLst/>
              </a:prstGeom>
              <a:ln cap="flat" w="19050">
                <a:solidFill>
                  <a:schemeClr val="accent2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16" name="Oval  - Process Diagram 3 ">
                <a:extLst>
                  <a:ext uri="{05221986-0372-4E6D-9DBD-98B8E10C4C2C}">
                    <a16:creationId xmlns:a16="http://schemas.microsoft.com/office/drawing/2010/main" id="{AA32F3EE-DB4E-416D-976C-A37BB26D89F5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2299035" y="2065907"/>
                <a:ext cx="285750" cy="285750"/>
              </a:xfrm>
              <a:prstGeom prst="ellipse">
                <a:avLst/>
              </a:prstGeom>
              <a:solidFill>
                <a:schemeClr val="accent2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c00000"/>
                    </a:solidFill>
                    <a:latin typeface="+mn-lt"/>
                  </a:rPr>
                  <a:t>02</a:t>
                </a:r>
                <a:endParaRPr b="1" dirty="0" lang="en-US" sz="700">
                  <a:solidFill>
                    <a:srgbClr val="c00000"/>
                  </a:solidFill>
                  <a:latin typeface="+mn-lt"/>
                </a:endParaRPr>
              </a:p>
            </p:txBody>
          </p:sp>
        </p:grpSp>
        <p:grpSp>
          <p:nvGrpSpPr>
            <p:cNvPr id="17" name="">
              <a:extLst>
                <a:ext uri="{151CEF63-23DE-45D7-9238-2F5CD34DADC1}">
                  <a16:creationId xmlns:a16="http://schemas.microsoft.com/office/drawing/2010/main" id="{229B4836-A0F8-4941-8A5C-CD92EF2CE74F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3162300" y="0"/>
              <a:ext cx="1333499" cy="3043537"/>
              <a:chOff x="3162300" y="0"/>
              <a:chExt cx="1333499" cy="3043537"/>
            </a:xfrm>
          </p:grpSpPr>
          <p:sp>
            <p:nvSpPr>
              <p:cNvPr id="18" name="Octagon  - Process Diagram 3 ">
                <a:extLst>
                  <a:ext uri="{BCBBDE20-D881-4240-BCDC-9F9D25A6215A}">
                    <a16:creationId xmlns:a16="http://schemas.microsoft.com/office/drawing/2010/main" id="{0154FACB-16C4-4427-BC18-86ADFD9F293E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3162300" y="1747195"/>
                <a:ext cx="1296342" cy="1296342"/>
              </a:xfrm>
              <a:prstGeom prst="octagon">
                <a:avLst/>
              </a:prstGeom>
              <a:solidFill>
                <a:schemeClr val="accent3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2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2"/>
                  </a:solidFill>
                  <a:latin typeface="+mn-lt"/>
                </a:endParaRPr>
              </a:p>
            </p:txBody>
          </p:sp>
          <p:sp>
            <p:nvSpPr>
              <p:cNvPr id="19" name="">
                <a:extLst>
                  <a:ext uri="{1013E0CE-F17C-4334-B885-B1B3C20364BE}">
                    <a16:creationId xmlns:a16="http://schemas.microsoft.com/office/drawing/2010/main" id="{DA4AC092-D7A1-4869-A904-9774BA3B0DA0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3202354" y="1711366"/>
                <a:ext cx="1293445" cy="1293445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20" name="Octagon  - Process Diagram 3 ">
                <a:extLst>
                  <a:ext uri="{BF697E8F-7E56-4B62-93B1-11D292BC8D2B}">
                    <a16:creationId xmlns:a16="http://schemas.microsoft.com/office/drawing/2010/main" id="{D17A0193-E5B3-4119-852D-2AD4184A8FBC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3162300" y="1743075"/>
                <a:ext cx="1296342" cy="1296342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800">
                    <a:solidFill>
                      <a:srgbClr val="ff0000"/>
                    </a:solidFill>
                    <a:latin typeface="Alegreya"/>
                  </a:rPr>
                  <a:t>cust_fraud_rate</a:t>
                </a:r>
                <a:endParaRPr b="1" dirty="0" lang="en-US" sz="800">
                  <a:solidFill>
                    <a:srgbClr val="ff0000"/>
                  </a:solidFill>
                  <a:latin typeface="Alegreya"/>
                </a:endParaRPr>
              </a:p>
            </p:txBody>
          </p:sp>
          <p:cxnSp>
            <p:nvCxnSpPr>
              <p:cNvPr id="21" name="">
                <a:extLst>
                  <a:ext uri="{D8C4A569-0228-4786-AF01-40283B08048D}">
                    <a16:creationId xmlns:a16="http://schemas.microsoft.com/office/drawing/2010/main" id="{33D64F19-E591-4D61-B94D-755D0B6E8A3A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3008004" y="828979"/>
                <a:ext cx="1657959" cy="0"/>
              </a:xfrm>
              <a:prstGeom prst="line">
                <a:avLst/>
              </a:prstGeom>
              <a:ln cap="flat" w="19050">
                <a:solidFill>
                  <a:schemeClr val="accent3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22" name="Oval  - Process Diagram 3 ">
                <a:extLst>
                  <a:ext uri="{0E8EC168-4573-4CF5-8F47-D9DEB1617D9C}">
                    <a16:creationId xmlns:a16="http://schemas.microsoft.com/office/drawing/2010/main" id="{A0D6566A-E4C7-4042-8437-E3AAD2F3FADF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3689687" y="1177305"/>
                <a:ext cx="285750" cy="285750"/>
              </a:xfrm>
              <a:prstGeom prst="ellipse">
                <a:avLst/>
              </a:prstGeom>
              <a:solidFill>
                <a:schemeClr val="accent3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ff0000"/>
                    </a:solidFill>
                    <a:latin typeface="+mn-lt"/>
                  </a:rPr>
                  <a:t>03</a:t>
                </a:r>
                <a:endParaRPr b="1" dirty="0" lang="en-US" sz="700">
                  <a:solidFill>
                    <a:srgbClr val="ff0000"/>
                  </a:solidFill>
                  <a:latin typeface="+mn-lt"/>
                </a:endParaRPr>
              </a:p>
            </p:txBody>
          </p:sp>
        </p:grpSp>
        <p:grpSp>
          <p:nvGrpSpPr>
            <p:cNvPr id="23" name="">
              <a:extLst>
                <a:ext uri="{C8984BED-E42D-48B9-972A-083E83EB191A}">
                  <a16:creationId xmlns:a16="http://schemas.microsoft.com/office/drawing/2010/main" id="{919C79A5-1D1F-4783-AA0E-EEFEB1294269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4543425" y="0"/>
              <a:ext cx="1343022" cy="3923423"/>
              <a:chOff x="4543425" y="0"/>
              <a:chExt cx="1343022" cy="3923423"/>
            </a:xfrm>
          </p:grpSpPr>
          <p:sp>
            <p:nvSpPr>
              <p:cNvPr id="24" name="">
                <a:extLst>
                  <a:ext uri="{2784FEDE-A60A-4753-A3C6-06B95C2E6315}">
                    <a16:creationId xmlns:a16="http://schemas.microsoft.com/office/drawing/2010/main" id="{194CBBF9-C68D-4D85-AB2F-45391D641D30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4552948" y="2627080"/>
                <a:ext cx="1296342" cy="1296342"/>
              </a:xfrm>
              <a:prstGeom prst="octagon">
                <a:avLst/>
              </a:prstGeom>
              <a:solidFill>
                <a:schemeClr val="accent4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25" name="">
                <a:extLst>
                  <a:ext uri="{1F4C21EF-42B5-4E42-9BA9-EC9C9F51B38E}">
                    <a16:creationId xmlns:a16="http://schemas.microsoft.com/office/drawing/2010/main" id="{D7688446-A3CF-444C-A097-4696AB22BD32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4593002" y="2591251"/>
                <a:ext cx="1293445" cy="1293445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26" name="Octagon  - Process Diagram 3 ">
                <a:extLst>
                  <a:ext uri="{0A443D56-D55F-445A-A096-CBD0332DB179}">
                    <a16:creationId xmlns:a16="http://schemas.microsoft.com/office/drawing/2010/main" id="{54AC55C3-7171-4217-8DC7-50C4E03542EB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4543425" y="2619375"/>
                <a:ext cx="1296342" cy="1296342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900">
                    <a:solidFill>
                      <a:srgbClr val="7030a0"/>
                    </a:solidFill>
                    <a:latin typeface="Alegreya"/>
                  </a:rPr>
                  <a:t>cust_avg_amt</a:t>
                </a:r>
                <a:endParaRPr b="1" dirty="0" lang="en-US" sz="900">
                  <a:solidFill>
                    <a:srgbClr val="7030a0"/>
                  </a:solidFill>
                  <a:latin typeface="Alegreya"/>
                </a:endParaRPr>
              </a:p>
            </p:txBody>
          </p:sp>
          <p:cxnSp>
            <p:nvCxnSpPr>
              <p:cNvPr id="27" name="">
                <a:extLst>
                  <a:ext uri="{17FE905B-51DA-498B-8872-19D79EC5144B}">
                    <a16:creationId xmlns:a16="http://schemas.microsoft.com/office/drawing/2010/main" id="{5D485CC8-1A22-4450-A5C9-27080F100BFD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3958714" y="1268920"/>
                <a:ext cx="2537841" cy="0"/>
              </a:xfrm>
              <a:prstGeom prst="line">
                <a:avLst/>
              </a:prstGeom>
              <a:ln cap="flat" w="19050">
                <a:solidFill>
                  <a:schemeClr val="accent4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28" name="Oval  - Process Diagram 3 ">
                <a:extLst>
                  <a:ext uri="{A831C526-09EF-4D52-AC31-8B68B02AE310}">
                    <a16:creationId xmlns:a16="http://schemas.microsoft.com/office/drawing/2010/main" id="{9C4EC154-1CF1-45D7-9DCB-0E4941164A7B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5080335" y="2065907"/>
                <a:ext cx="285750" cy="285750"/>
              </a:xfrm>
              <a:prstGeom prst="ellipse">
                <a:avLst/>
              </a:prstGeom>
              <a:solidFill>
                <a:schemeClr val="accent4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7030a0"/>
                    </a:solidFill>
                    <a:latin typeface="+mn-lt"/>
                  </a:rPr>
                  <a:t>04</a:t>
                </a:r>
                <a:endParaRPr b="1" dirty="0" lang="en-US" sz="700">
                  <a:solidFill>
                    <a:srgbClr val="7030a0"/>
                  </a:solidFill>
                  <a:latin typeface="+mn-lt"/>
                </a:endParaRPr>
              </a:p>
            </p:txBody>
          </p:sp>
        </p:grpSp>
        <p:grpSp>
          <p:nvGrpSpPr>
            <p:cNvPr id="29" name="">
              <a:extLst>
                <a:ext uri="{3A975FCA-464A-45B8-A007-C26269DDEE3D}">
                  <a16:creationId xmlns:a16="http://schemas.microsoft.com/office/drawing/2010/main" id="{36A9B536-3CFC-4EA4-8980-373F94912A46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5943600" y="0"/>
              <a:ext cx="1333499" cy="3043537"/>
              <a:chOff x="5943600" y="0"/>
              <a:chExt cx="1333499" cy="3043537"/>
            </a:xfrm>
          </p:grpSpPr>
          <p:sp>
            <p:nvSpPr>
              <p:cNvPr id="30" name="">
                <a:extLst>
                  <a:ext uri="{17CCDE51-1098-4879-BE0E-1757402B4709}">
                    <a16:creationId xmlns:a16="http://schemas.microsoft.com/office/drawing/2010/main" id="{32BFE3C9-05B1-4BE0-9DA6-68CD0C7BCA79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5943600" y="1747195"/>
                <a:ext cx="1296342" cy="1296342"/>
              </a:xfrm>
              <a:prstGeom prst="octagon">
                <a:avLst/>
              </a:prstGeom>
              <a:solidFill>
                <a:schemeClr val="accent5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2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2"/>
                  </a:solidFill>
                  <a:latin typeface="+mn-lt"/>
                </a:endParaRPr>
              </a:p>
            </p:txBody>
          </p:sp>
          <p:sp>
            <p:nvSpPr>
              <p:cNvPr id="31" name="">
                <a:extLst>
                  <a:ext uri="{7FA6B940-CC45-4517-8693-898D15ECBFD8}">
                    <a16:creationId xmlns:a16="http://schemas.microsoft.com/office/drawing/2010/main" id="{AFF437E8-F999-415A-B37C-2BECA87B7C66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5983654" y="1711366"/>
                <a:ext cx="1293445" cy="1293445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32" name="Octagon  - Process Diagram 3 ">
                <a:extLst>
                  <a:ext uri="{28F92A63-5CCC-4C17-B209-70DE3720083D}">
                    <a16:creationId xmlns:a16="http://schemas.microsoft.com/office/drawing/2010/main" id="{AFE3D197-4C3B-44AC-9217-E9D6830C3D72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5943600" y="1743075"/>
                <a:ext cx="1296342" cy="1296342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600">
                    <a:solidFill>
                      <a:srgbClr val="ffff00"/>
                    </a:solidFill>
                    <a:latin typeface="Alegreya"/>
                  </a:rPr>
                  <a:t>amt_deviation</a:t>
                </a:r>
                <a:endParaRPr b="1" dirty="0" lang="en-US" sz="600">
                  <a:solidFill>
                    <a:srgbClr val="ffff00"/>
                  </a:solidFill>
                  <a:latin typeface="Alegreya"/>
                </a:endParaRPr>
              </a:p>
            </p:txBody>
          </p:sp>
          <p:cxnSp>
            <p:nvCxnSpPr>
              <p:cNvPr id="33" name="">
                <a:extLst>
                  <a:ext uri="{91127A10-F9C1-41C2-BD8F-047A830E8FC7}">
                    <a16:creationId xmlns:a16="http://schemas.microsoft.com/office/drawing/2010/main" id="{1805320F-0A12-4950-8322-7FFC0D66D9FF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5789304" y="828979"/>
                <a:ext cx="1657959" cy="0"/>
              </a:xfrm>
              <a:prstGeom prst="line">
                <a:avLst/>
              </a:prstGeom>
              <a:ln cap="flat" w="19050">
                <a:solidFill>
                  <a:schemeClr val="accent5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34" name="Oval  - Process Diagram 3 ">
                <a:extLst>
                  <a:ext uri="{9D2C36B8-7A65-4871-9B1E-820C72747258}">
                    <a16:creationId xmlns:a16="http://schemas.microsoft.com/office/drawing/2010/main" id="{91A6423F-236E-4B0E-BD39-B12112CB8296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6470986" y="1177305"/>
                <a:ext cx="285750" cy="285750"/>
              </a:xfrm>
              <a:prstGeom prst="ellipse">
                <a:avLst/>
              </a:prstGeom>
              <a:solidFill>
                <a:schemeClr val="accent5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ffff00"/>
                    </a:solidFill>
                    <a:latin typeface="+mn-lt"/>
                  </a:rPr>
                  <a:t>05</a:t>
                </a:r>
                <a:endParaRPr b="1" dirty="0" lang="en-US" sz="70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grpSp>
          <p:nvGrpSpPr>
            <p:cNvPr id="35" name="">
              <a:extLst>
                <a:ext uri="{A8D2EEAD-6FF7-4BAF-BEBC-B2EAE7F5B2D0}">
                  <a16:creationId xmlns:a16="http://schemas.microsoft.com/office/drawing/2010/main" id="{FA0CC9C4-6711-4B60-BE96-75EAA205531E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7324725" y="0"/>
              <a:ext cx="1343022" cy="3923423"/>
              <a:chOff x="7324725" y="0"/>
              <a:chExt cx="1343022" cy="3923423"/>
            </a:xfrm>
          </p:grpSpPr>
          <p:sp>
            <p:nvSpPr>
              <p:cNvPr id="36" name="">
                <a:extLst>
                  <a:ext uri="{0F3522C8-32E6-456C-9F0F-AC19AB7F32F6}">
                    <a16:creationId xmlns:a16="http://schemas.microsoft.com/office/drawing/2010/main" id="{9F5E0229-C1A6-4EA2-9849-97F92F2B54FE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7334248" y="2627080"/>
                <a:ext cx="1296342" cy="1296342"/>
              </a:xfrm>
              <a:prstGeom prst="octagon">
                <a:avLst/>
              </a:prstGeom>
              <a:solidFill>
                <a:schemeClr val="accent6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37" name="">
                <a:extLst>
                  <a:ext uri="{87E81C06-2F8E-46DC-9DBB-296D57A9C410}">
                    <a16:creationId xmlns:a16="http://schemas.microsoft.com/office/drawing/2010/main" id="{990CC081-E961-408F-8022-AF896268578B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7374302" y="2591251"/>
                <a:ext cx="1293445" cy="1293445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38" name="Octagon  - Process Diagram 3 ">
                <a:extLst>
                  <a:ext uri="{7809BD4F-D9AE-489F-A14F-3732499132CE}">
                    <a16:creationId xmlns:a16="http://schemas.microsoft.com/office/drawing/2010/main" id="{82AC1744-C715-4C55-A1ED-9C5B56821EE6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7324725" y="2619375"/>
                <a:ext cx="1296342" cy="1296342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900">
                    <a:solidFill>
                      <a:srgbClr val="2fe4f5"/>
                    </a:solidFill>
                    <a:latin typeface="Alegreya"/>
                  </a:rPr>
                  <a:t>amt_ratio</a:t>
                </a:r>
                <a:endParaRPr b="1" dirty="0" lang="en-US" sz="900">
                  <a:solidFill>
                    <a:srgbClr val="2fe4f5"/>
                  </a:solidFill>
                  <a:latin typeface="Alegreya"/>
                </a:endParaRPr>
              </a:p>
            </p:txBody>
          </p:sp>
          <p:cxnSp>
            <p:nvCxnSpPr>
              <p:cNvPr id="39" name="">
                <a:extLst>
                  <a:ext uri="{25781661-DDF5-4B95-A10B-602617C7D48E}">
                    <a16:creationId xmlns:a16="http://schemas.microsoft.com/office/drawing/2010/main" id="{2C89DF4C-6704-4426-B3E1-004E591FE7F1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6740013" y="1268920"/>
                <a:ext cx="2537841" cy="0"/>
              </a:xfrm>
              <a:prstGeom prst="line">
                <a:avLst/>
              </a:prstGeom>
              <a:ln cap="flat" w="19050">
                <a:solidFill>
                  <a:schemeClr val="accent6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40" name="Oval  - Process Diagram 3 ">
                <a:extLst>
                  <a:ext uri="{0C71B61C-CD92-45AA-B791-3A3F9DEF653D}">
                    <a16:creationId xmlns:a16="http://schemas.microsoft.com/office/drawing/2010/main" id="{F4DB2896-55A9-4A17-84B7-A6FC908EBCC5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7861635" y="2065907"/>
                <a:ext cx="285750" cy="285750"/>
              </a:xfrm>
              <a:prstGeom prst="ellipse">
                <a:avLst/>
              </a:prstGeom>
              <a:solidFill>
                <a:schemeClr val="accent6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2fe4f5"/>
                    </a:solidFill>
                    <a:latin typeface="+mn-lt"/>
                  </a:rPr>
                  <a:t>06</a:t>
                </a:r>
                <a:endParaRPr b="1" dirty="0" lang="en-US" sz="700">
                  <a:solidFill>
                    <a:srgbClr val="2fe4f5"/>
                  </a:solidFill>
                  <a:latin typeface="+mn-lt"/>
                </a:endParaRPr>
              </a:p>
            </p:txBody>
          </p:sp>
        </p:grpSp>
      </p:grpSp>
      <p:grpSp>
        <p:nvGrpSpPr>
          <p:cNvPr id="41" name="Process Diagram 4">
            <a:extLst>
              <a:ext uri="{AEF0170F-F9A6-44AC-AF92-336240DB2527}">
                <a16:creationId xmlns:a16="http://schemas.microsoft.com/office/drawing/2010/main" id="{65EA8CD8-0B4A-4C76-861F-9203ED0A470B}"/>
              </a:ext>
            </a:extLst>
          </p:cNvPr>
          <p:cNvGrpSpPr>
            <a:grpSpLocks noChangeAspect="true"/>
          </p:cNvGrpSpPr>
          <p:nvPr/>
        </p:nvGrpSpPr>
        <p:grpSpPr>
          <a:xfrm flipH="false" flipV="false" rot="0">
            <a:off x="4954219" y="2827544"/>
            <a:ext cx="3720322" cy="1859137"/>
            <a:chOff x="571500" y="0"/>
            <a:chExt cx="8001000" cy="3998290"/>
          </a:xfrm>
        </p:grpSpPr>
        <p:grpSp>
          <p:nvGrpSpPr>
            <p:cNvPr id="42" name="">
              <a:extLst>
                <a:ext uri="{9E471FA7-9EF4-4880-B714-2B128B531E1B}">
                  <a16:creationId xmlns:a16="http://schemas.microsoft.com/office/drawing/2010/main" id="{4FC16F97-D821-4CBB-9CEE-5935805B1911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571500" y="0"/>
              <a:ext cx="1524000" cy="3103263"/>
              <a:chOff x="571500" y="0"/>
              <a:chExt cx="1524000" cy="3103263"/>
            </a:xfrm>
          </p:grpSpPr>
          <p:sp>
            <p:nvSpPr>
              <p:cNvPr id="43" name="">
                <a:extLst>
                  <a:ext uri="{522D32F5-7085-40D1-9233-139E052035A6}">
                    <a16:creationId xmlns:a16="http://schemas.microsoft.com/office/drawing/2010/main" id="{F78850C0-C0E1-4FC3-B113-277624FE6EEC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571500" y="1621728"/>
                <a:ext cx="1481534" cy="1481534"/>
              </a:xfrm>
              <a:prstGeom prst="octagon">
                <a:avLst/>
              </a:prstGeom>
              <a:solidFill>
                <a:schemeClr val="accent1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2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2"/>
                  </a:solidFill>
                  <a:latin typeface="+mn-lt"/>
                </a:endParaRPr>
              </a:p>
            </p:txBody>
          </p:sp>
          <p:sp>
            <p:nvSpPr>
              <p:cNvPr id="44" name="">
                <a:extLst>
                  <a:ext uri="{8E9014AF-72D1-489B-A6C6-03E84E44285B}">
                    <a16:creationId xmlns:a16="http://schemas.microsoft.com/office/drawing/2010/main" id="{02D4AF7A-F83F-4EBD-9F22-64FF9BFB2716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617277" y="1580780"/>
                <a:ext cx="1478223" cy="1478223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45" name="Octagon  - Process Diagram 4 ">
                <a:extLst>
                  <a:ext uri="{8F589D50-B1D7-4B4C-A0D7-F78B127E14B8}">
                    <a16:creationId xmlns:a16="http://schemas.microsoft.com/office/drawing/2010/main" id="{97B6CC78-250C-4679-8DEB-D01DF73A9659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571500" y="1619250"/>
                <a:ext cx="1481534" cy="1481534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700">
                    <a:solidFill>
                      <a:srgbClr val="ffc000"/>
                    </a:solidFill>
                    <a:latin typeface="Alegreya"/>
                  </a:rPr>
                  <a:t>device_count</a:t>
                </a:r>
                <a:endParaRPr b="1" dirty="0" lang="en-US" sz="700">
                  <a:solidFill>
                    <a:srgbClr val="ffc000"/>
                  </a:solidFill>
                  <a:latin typeface="Alegreya"/>
                </a:endParaRPr>
              </a:p>
            </p:txBody>
          </p:sp>
          <p:cxnSp>
            <p:nvCxnSpPr>
              <p:cNvPr id="46" name="">
                <a:extLst>
                  <a:ext uri="{8A0353C9-09A3-4F5F-899C-E42BE69D4B40}">
                    <a16:creationId xmlns:a16="http://schemas.microsoft.com/office/drawing/2010/main" id="{268EB4C7-B1DD-4AA2-A72D-0B591DF53D46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582701" y="759871"/>
                <a:ext cx="1519742" cy="0"/>
              </a:xfrm>
              <a:prstGeom prst="line">
                <a:avLst/>
              </a:prstGeom>
              <a:ln cap="flat" w="19050">
                <a:solidFill>
                  <a:schemeClr val="accent1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47" name="Oval  - Process Diagram 4 ">
                <a:extLst>
                  <a:ext uri="{E59F7D5D-2272-4E71-BB4E-574F2B6FE076}">
                    <a16:creationId xmlns:a16="http://schemas.microsoft.com/office/drawing/2010/main" id="{CF3D26F7-59DE-4236-939E-455D0894C40A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1174227" y="970424"/>
                <a:ext cx="320437" cy="320437"/>
              </a:xfrm>
              <a:prstGeom prst="ellipse">
                <a:avLst/>
              </a:prstGeom>
              <a:solidFill>
                <a:schemeClr val="accent1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ffc000"/>
                    </a:solidFill>
                    <a:latin typeface="+mn-lt"/>
                  </a:rPr>
                  <a:t>07</a:t>
                </a:r>
                <a:endParaRPr b="1" dirty="0" lang="en-US" sz="700">
                  <a:solidFill>
                    <a:srgbClr val="ffc000"/>
                  </a:solidFill>
                  <a:latin typeface="+mn-lt"/>
                </a:endParaRPr>
              </a:p>
            </p:txBody>
          </p:sp>
        </p:grpSp>
        <p:grpSp>
          <p:nvGrpSpPr>
            <p:cNvPr id="48" name="">
              <a:extLst>
                <a:ext uri="{51B6C763-6E8E-4649-A9A7-E2EA24F24BF1}">
                  <a16:creationId xmlns:a16="http://schemas.microsoft.com/office/drawing/2010/main" id="{8F961616-0144-4664-A197-BF84CC6E5193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2190750" y="0"/>
              <a:ext cx="1524000" cy="3998290"/>
              <a:chOff x="2190750" y="0"/>
              <a:chExt cx="1524000" cy="3998290"/>
            </a:xfrm>
          </p:grpSpPr>
          <p:sp>
            <p:nvSpPr>
              <p:cNvPr id="49" name="">
                <a:extLst>
                  <a:ext uri="{183433C7-6D82-409B-B3A7-08E6A926190A}">
                    <a16:creationId xmlns:a16="http://schemas.microsoft.com/office/drawing/2010/main" id="{2F5AA78A-3581-41DF-AA16-698CC0BF4FE6}"/>
                  </a:ext>
                </a:extLst>
              </p:cNvPr>
              <p:cNvSpPr>
                <a:spLocks noMove="true" noResize="true" noRot="true" noSelect="true"/>
              </p:cNvSpPr>
              <p:nvPr/>
            </p:nvSpPr>
            <p:spPr>
              <a:xfrm flipH="false" flipV="false" rot="0">
                <a:off x="2190750" y="2516755"/>
                <a:ext cx="1481534" cy="1481534"/>
              </a:xfrm>
              <a:prstGeom prst="octagon">
                <a:avLst/>
              </a:prstGeom>
              <a:solidFill>
                <a:schemeClr val="accent2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dirty="0" lang="en-US" sz="1000"/>
                  <a:t/>
                </a:r>
                <a:endParaRPr dirty="0" lang="en-US" sz="1000"/>
              </a:p>
            </p:txBody>
          </p:sp>
          <p:sp>
            <p:nvSpPr>
              <p:cNvPr id="50" name="">
                <a:extLst>
                  <a:ext uri="{49A3B7E1-8502-46F7-B29F-9B37ED91F5EF}">
                    <a16:creationId xmlns:a16="http://schemas.microsoft.com/office/drawing/2010/main" id="{FEC69AFB-F6ED-4D15-B5B7-ADEFA551417D}"/>
                  </a:ext>
                </a:extLst>
              </p:cNvPr>
              <p:cNvSpPr>
                <a:spLocks noMove="true" noResize="true" noRot="true" noSelect="true"/>
              </p:cNvSpPr>
              <p:nvPr/>
            </p:nvSpPr>
            <p:spPr>
              <a:xfrm flipH="false" flipV="false" rot="0">
                <a:off x="2236527" y="2475808"/>
                <a:ext cx="1478223" cy="1478223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2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2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51" name="Octagon  - Process Diagram 4 ">
                <a:extLst>
                  <a:ext uri="{DDFCEBE2-B56F-4B57-A3A0-2C3BF440ED68}">
                    <a16:creationId xmlns:a16="http://schemas.microsoft.com/office/drawing/2010/main" id="{C6CAA1DC-2DC7-4BDA-ABC0-6AAA74249496}"/>
                  </a:ext>
                </a:extLst>
              </p:cNvPr>
              <p:cNvSpPr>
                <a:spLocks noMove="true" noResize="true" noRot="true" noSelect="true"/>
              </p:cNvSpPr>
              <p:nvPr/>
            </p:nvSpPr>
            <p:spPr>
              <a:xfrm flipH="false" flipV="false" rot="0">
                <a:off x="2190750" y="2514600"/>
                <a:ext cx="1481534" cy="1481534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b="1" dirty="0" lang="en-US" sz="800">
                    <a:solidFill>
                      <a:srgbClr val="7030a0"/>
                    </a:solidFill>
                    <a:latin typeface="Alegreya"/>
                  </a:rPr>
                  <a:t>new_device_flag</a:t>
                </a:r>
                <a:endParaRPr b="1" dirty="0" lang="en-US" sz="800">
                  <a:solidFill>
                    <a:srgbClr val="7030a0"/>
                  </a:solidFill>
                  <a:latin typeface="Alegreya"/>
                </a:endParaRPr>
              </a:p>
            </p:txBody>
          </p:sp>
          <p:cxnSp>
            <p:nvCxnSpPr>
              <p:cNvPr id="52" name="">
                <a:extLst>
                  <a:ext uri="{48170740-E638-4D1F-8030-40C25FB4A395}">
                    <a16:creationId xmlns:a16="http://schemas.microsoft.com/office/drawing/2010/main" id="{26E9A1C4-491A-4B6A-B4B2-44499BCB0FCA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false" rot="5400000">
                <a:off x="1754438" y="1207384"/>
                <a:ext cx="2414768" cy="0"/>
              </a:xfrm>
              <a:prstGeom prst="line">
                <a:avLst/>
              </a:prstGeom>
              <a:ln cap="flat" w="19050">
                <a:solidFill>
                  <a:schemeClr val="accent2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53" name="Oval  - Process Diagram 4 ">
                <a:extLst>
                  <a:ext uri="{57880C80-BCD9-4F2B-B5F5-ED3AD26C85F3}">
                    <a16:creationId xmlns:a16="http://schemas.microsoft.com/office/drawing/2010/main" id="{CD2D6BC1-1E0C-43C0-953F-354A32F8A598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2793477" y="1875415"/>
                <a:ext cx="320437" cy="320437"/>
              </a:xfrm>
              <a:prstGeom prst="ellipse">
                <a:avLst/>
              </a:prstGeom>
              <a:solidFill>
                <a:schemeClr val="accent2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7030a0"/>
                    </a:solidFill>
                    <a:latin typeface="+mn-lt"/>
                  </a:rPr>
                  <a:t>08</a:t>
                </a:r>
                <a:endParaRPr b="1" dirty="0" lang="en-US" sz="700">
                  <a:solidFill>
                    <a:srgbClr val="7030a0"/>
                  </a:solidFill>
                  <a:latin typeface="+mn-lt"/>
                </a:endParaRPr>
              </a:p>
            </p:txBody>
          </p:sp>
        </p:grpSp>
        <p:grpSp>
          <p:nvGrpSpPr>
            <p:cNvPr id="54" name="">
              <a:extLst>
                <a:ext uri="{A16DB6D0-9C7D-4932-9AD3-442484AE830C}">
                  <a16:creationId xmlns:a16="http://schemas.microsoft.com/office/drawing/2010/main" id="{D0F19CAF-D89B-4C8C-8562-51FFC8372B05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3810000" y="0"/>
              <a:ext cx="1524000" cy="3103263"/>
              <a:chOff x="3810000" y="0"/>
              <a:chExt cx="1524000" cy="3103263"/>
            </a:xfrm>
          </p:grpSpPr>
          <p:sp>
            <p:nvSpPr>
              <p:cNvPr id="55" name="">
                <a:extLst>
                  <a:ext uri="{1084B242-8360-4048-BB2E-DD8A1B5B33B2}">
                    <a16:creationId xmlns:a16="http://schemas.microsoft.com/office/drawing/2010/main" id="{34D525AA-B725-44D7-A1AE-EAA28DF4C9DE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3810000" y="1621728"/>
                <a:ext cx="1481534" cy="1481534"/>
              </a:xfrm>
              <a:prstGeom prst="octagon">
                <a:avLst/>
              </a:prstGeom>
              <a:solidFill>
                <a:schemeClr val="accent3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2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2"/>
                  </a:solidFill>
                  <a:latin typeface="+mn-lt"/>
                </a:endParaRPr>
              </a:p>
            </p:txBody>
          </p:sp>
          <p:sp>
            <p:nvSpPr>
              <p:cNvPr id="56" name="">
                <a:extLst>
                  <a:ext uri="{5D58C2EF-1A6A-4095-B705-E8654F74E5C9}">
                    <a16:creationId xmlns:a16="http://schemas.microsoft.com/office/drawing/2010/main" id="{FC4AAFBD-C7AF-4EE9-A747-3A63AA5DB1C3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3855777" y="1580780"/>
                <a:ext cx="1478223" cy="1478223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57" name="Octagon  - Process Diagram 4 ">
                <a:extLst>
                  <a:ext uri="{BD0C20DB-ABFB-4E46-B7AC-9CCD34ADDD18}">
                    <a16:creationId xmlns:a16="http://schemas.microsoft.com/office/drawing/2010/main" id="{BE1FC374-371D-45CC-A2F3-72EB19A9EFCE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3810000" y="1619250"/>
                <a:ext cx="1481534" cy="1481534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800">
                    <a:solidFill>
                      <a:srgbClr val="ffff00"/>
                    </a:solidFill>
                    <a:latin typeface="Alegreya"/>
                  </a:rPr>
                  <a:t>merchant_fraud_rate</a:t>
                </a:r>
                <a:endParaRPr b="1" dirty="0" lang="en-US" sz="800">
                  <a:solidFill>
                    <a:srgbClr val="ffff00"/>
                  </a:solidFill>
                  <a:latin typeface="Alegreya"/>
                </a:endParaRPr>
              </a:p>
            </p:txBody>
          </p:sp>
          <p:cxnSp>
            <p:nvCxnSpPr>
              <p:cNvPr id="58" name="">
                <a:extLst>
                  <a:ext uri="{1B424959-B6F3-466C-915B-E51405CFCAE3}">
                    <a16:creationId xmlns:a16="http://schemas.microsoft.com/office/drawing/2010/main" id="{B89DAF72-4545-4CF7-8E72-C6E1BB36659C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3821201" y="759871"/>
                <a:ext cx="1519742" cy="0"/>
              </a:xfrm>
              <a:prstGeom prst="line">
                <a:avLst/>
              </a:prstGeom>
              <a:ln cap="flat" w="19050">
                <a:solidFill>
                  <a:schemeClr val="accent3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59" name="Oval  - Process Diagram 4 ">
                <a:extLst>
                  <a:ext uri="{11B0445E-4473-4538-83A5-D2D37333FC63}">
                    <a16:creationId xmlns:a16="http://schemas.microsoft.com/office/drawing/2010/main" id="{D136B7CA-7F08-4295-9F8B-694958FF4E8D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4412727" y="970424"/>
                <a:ext cx="320437" cy="320437"/>
              </a:xfrm>
              <a:prstGeom prst="ellipse">
                <a:avLst/>
              </a:prstGeom>
              <a:solidFill>
                <a:schemeClr val="accent3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ffff00"/>
                    </a:solidFill>
                    <a:latin typeface="+mn-lt"/>
                  </a:rPr>
                  <a:t>09</a:t>
                </a:r>
                <a:endParaRPr b="1" dirty="0" lang="en-US" sz="70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grpSp>
          <p:nvGrpSpPr>
            <p:cNvPr id="60" name="">
              <a:extLst>
                <a:ext uri="{2C1CD369-1A76-4315-AB83-D1093F47E606}">
                  <a16:creationId xmlns:a16="http://schemas.microsoft.com/office/drawing/2010/main" id="{EC340091-A19B-4E25-A7E0-0E0BBFF5C267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5429250" y="0"/>
              <a:ext cx="1524000" cy="3998290"/>
              <a:chOff x="5429250" y="0"/>
              <a:chExt cx="1524000" cy="3998290"/>
            </a:xfrm>
          </p:grpSpPr>
          <p:sp>
            <p:nvSpPr>
              <p:cNvPr id="61" name="">
                <a:extLst>
                  <a:ext uri="{F8E553CE-7032-4ABD-8276-AE6C82E7F753}">
                    <a16:creationId xmlns:a16="http://schemas.microsoft.com/office/drawing/2010/main" id="{2870791A-F2DF-426F-9803-E005FCE90A44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5429250" y="2516755"/>
                <a:ext cx="1481534" cy="1481534"/>
              </a:xfrm>
              <a:prstGeom prst="octagon">
                <a:avLst/>
              </a:prstGeom>
              <a:solidFill>
                <a:schemeClr val="accent4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62" name="">
                <a:extLst>
                  <a:ext uri="{C11F6CC4-5B66-41CC-9683-DBDDE9EC2A17}">
                    <a16:creationId xmlns:a16="http://schemas.microsoft.com/office/drawing/2010/main" id="{19B50E4E-6DE3-43F0-83E3-5E1A3EB90395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5475027" y="2475808"/>
                <a:ext cx="1478223" cy="1478223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63" name="Octagon  - Process Diagram 4 ">
                <a:extLst>
                  <a:ext uri="{F2241D2E-ED55-4DA0-8A19-E77C01728EAA}">
                    <a16:creationId xmlns:a16="http://schemas.microsoft.com/office/drawing/2010/main" id="{9A660079-8552-4CD7-86E2-608465240D00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5429250" y="2514600"/>
                <a:ext cx="1481534" cy="1481534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1000">
                    <a:solidFill>
                      <a:srgbClr val="c00000"/>
                    </a:solidFill>
                    <a:latin typeface="Alegreya"/>
                  </a:rPr>
                  <a:t>otp_risk</a:t>
                </a:r>
                <a:endParaRPr b="1" dirty="0" lang="en-US" sz="1000">
                  <a:solidFill>
                    <a:srgbClr val="c00000"/>
                  </a:solidFill>
                  <a:latin typeface="Alegreya"/>
                </a:endParaRPr>
              </a:p>
            </p:txBody>
          </p:sp>
          <p:cxnSp>
            <p:nvCxnSpPr>
              <p:cNvPr id="64" name="">
                <a:extLst>
                  <a:ext uri="{F14EF3BF-6CFA-4225-8D89-7C70D328832A}">
                    <a16:creationId xmlns:a16="http://schemas.microsoft.com/office/drawing/2010/main" id="{3EE09743-7ABF-4A7C-B0F8-61B319E958C9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4992938" y="1207384"/>
                <a:ext cx="2414768" cy="0"/>
              </a:xfrm>
              <a:prstGeom prst="line">
                <a:avLst/>
              </a:prstGeom>
              <a:ln cap="flat" w="19050">
                <a:solidFill>
                  <a:schemeClr val="accent4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65" name="Oval  - Process Diagram 4 ">
                <a:extLst>
                  <a:ext uri="{4271637F-D2E4-4036-A69F-5B346F77A4E7}">
                    <a16:creationId xmlns:a16="http://schemas.microsoft.com/office/drawing/2010/main" id="{0549EB64-3818-4E7F-A75D-DD08F93E71A6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6031978" y="1875415"/>
                <a:ext cx="320437" cy="320437"/>
              </a:xfrm>
              <a:prstGeom prst="ellipse">
                <a:avLst/>
              </a:prstGeom>
              <a:solidFill>
                <a:schemeClr val="accent4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c00000"/>
                    </a:solidFill>
                    <a:latin typeface="+mn-lt"/>
                  </a:rPr>
                  <a:t>10</a:t>
                </a:r>
                <a:endParaRPr b="1" dirty="0" lang="en-US" sz="700">
                  <a:solidFill>
                    <a:srgbClr val="c00000"/>
                  </a:solidFill>
                  <a:latin typeface="+mn-lt"/>
                </a:endParaRPr>
              </a:p>
            </p:txBody>
          </p:sp>
        </p:grpSp>
        <p:grpSp>
          <p:nvGrpSpPr>
            <p:cNvPr id="66" name="">
              <a:extLst>
                <a:ext uri="{9B5BF8CC-9F9A-4795-9833-074F4276EB84}">
                  <a16:creationId xmlns:a16="http://schemas.microsoft.com/office/drawing/2010/main" id="{E3FCCC39-6B39-40AE-B037-47646388F600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7048500" y="0"/>
              <a:ext cx="1524000" cy="3103263"/>
              <a:chOff x="7048500" y="0"/>
              <a:chExt cx="1524000" cy="3103263"/>
            </a:xfrm>
          </p:grpSpPr>
          <p:sp>
            <p:nvSpPr>
              <p:cNvPr id="67" name="">
                <a:extLst>
                  <a:ext uri="{2D708225-4F2F-43ED-8776-8313669C2581}">
                    <a16:creationId xmlns:a16="http://schemas.microsoft.com/office/drawing/2010/main" id="{20B1EF35-05D6-4562-ADD2-22D2B5460958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7048500" y="1621728"/>
                <a:ext cx="1481534" cy="1481534"/>
              </a:xfrm>
              <a:prstGeom prst="octagon">
                <a:avLst/>
              </a:prstGeom>
              <a:solidFill>
                <a:schemeClr val="accent5"/>
              </a:solidFill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2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2"/>
                  </a:solidFill>
                  <a:latin typeface="+mn-lt"/>
                </a:endParaRPr>
              </a:p>
            </p:txBody>
          </p:sp>
          <p:sp>
            <p:nvSpPr>
              <p:cNvPr id="68" name="">
                <a:extLst>
                  <a:ext uri="{6CA6F70E-B65B-46A2-9FAB-1AB6E0C77AF9}">
                    <a16:creationId xmlns:a16="http://schemas.microsoft.com/office/drawing/2010/main" id="{34762396-3E80-4EDC-9D1B-2518AF5AA96F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7094277" y="1580780"/>
                <a:ext cx="1478223" cy="1478223"/>
              </a:xfrm>
              <a:prstGeom prst="octagon">
                <a:avLst/>
              </a:prstGeom>
              <a:noFill/>
              <a:ln cap="flat" w="9525">
                <a:solidFill>
                  <a:schemeClr val="tx1">
                    <a:alpha val="100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bIns="95250" lIns="95250" rIns="95250" rtlCol="0" tIns="285750">
                <a:noAutofit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dirty="0" lang="en-US" sz="1000">
                    <a:solidFill>
                      <a:schemeClr val="bg1"/>
                    </a:solidFill>
                    <a:latin typeface="+mn-lt"/>
                  </a:rPr>
                  <a:t/>
                </a:r>
                <a:endParaRPr dirty="0" lang="en-US" sz="1000">
                  <a:solidFill>
                    <a:schemeClr val="bg1"/>
                  </a:solidFill>
                  <a:latin typeface="+mn-lt"/>
                </a:endParaRPr>
              </a:p>
            </p:txBody>
          </p:sp>
          <p:sp>
            <p:nvSpPr>
              <p:cNvPr id="69" name="Octagon  - Process Diagram 4 ">
                <a:extLst>
                  <a:ext uri="{41BB9AEA-7F32-4941-8C8C-662141BC5778}">
                    <a16:creationId xmlns:a16="http://schemas.microsoft.com/office/drawing/2010/main" id="{6B91AE06-022D-4B82-8800-C3C16D18E543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7048500" y="1619250"/>
                <a:ext cx="1481534" cy="1481534"/>
              </a:xfrm>
              <a:prstGeom prst="octagon">
                <a:avLst/>
              </a:prstGeom>
              <a:noFill/>
              <a:ln cap="flat" w="9525">
                <a:noFill/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 rtl="false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900">
                    <a:solidFill>
                      <a:srgbClr val="ff0000"/>
                    </a:solidFill>
                    <a:latin typeface="Alegreya"/>
                  </a:rPr>
                  <a:t>combined_risk</a:t>
                </a:r>
                <a:endParaRPr b="1" dirty="0" lang="en-US" sz="900">
                  <a:solidFill>
                    <a:srgbClr val="ff0000"/>
                  </a:solidFill>
                  <a:latin typeface="Alegreya"/>
                </a:endParaRPr>
              </a:p>
            </p:txBody>
          </p:sp>
          <p:cxnSp>
            <p:nvCxnSpPr>
              <p:cNvPr id="70" name="">
                <a:extLst>
                  <a:ext uri="{6B919F7F-B9CF-4C00-90E2-D430EFA5CB92}">
                    <a16:creationId xmlns:a16="http://schemas.microsoft.com/office/drawing/2010/main" id="{BB9368EC-211D-49EC-9BEE-0E77AA742B76}"/>
                  </a:ext>
                </a:extLst>
              </p:cNvPr>
              <p:cNvCxnSpPr>
                <a:cxnSpLocks noMove="true" noResize="true" noRot="true" noSelect="true"/>
              </p:cNvCxnSpPr>
              <p:nvPr/>
            </p:nvCxnSpPr>
            <p:spPr>
              <a:xfrm flipH="false" flipV="true" rot="5400000">
                <a:off x="7059701" y="759871"/>
                <a:ext cx="1519742" cy="0"/>
              </a:xfrm>
              <a:prstGeom prst="line">
                <a:avLst/>
              </a:prstGeom>
              <a:ln cap="flat" w="19050">
                <a:solidFill>
                  <a:schemeClr val="accent5"/>
                </a:solidFill>
                <a:prstDash val="solid"/>
                <a:round/>
                <a:headEnd len="med" type="none" w="med"/>
                <a:tailEnd len="med" type="triangle" w="med"/>
              </a:ln>
            </p:spPr>
            <p:style>
              <a:lnRef idx="1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</p:cxnSp>
          <p:sp>
            <p:nvSpPr>
              <p:cNvPr id="71" name="Oval  - Process Diagram 4 ">
                <a:extLst>
                  <a:ext uri="{46C742E0-363B-45E6-BDE0-AD86A6C858DC}">
                    <a16:creationId xmlns:a16="http://schemas.microsoft.com/office/drawing/2010/main" id="{87D96E42-CC67-42B7-8732-328879A6FC38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7651228" y="970424"/>
                <a:ext cx="320437" cy="320437"/>
              </a:xfrm>
              <a:prstGeom prst="ellipse">
                <a:avLst/>
              </a:prstGeom>
              <a:solidFill>
                <a:schemeClr val="accent5"/>
              </a:solidFill>
              <a:ln cap="flat" w="9525">
                <a:solidFill>
                  <a:schemeClr val="tx1"/>
                </a:solidFill>
                <a:prstDash val="solid"/>
                <a:round/>
              </a:ln>
              <a:effectLst>
                <a:outerShdw blurRad="50800" dir="3600000" dist="28575">
                  <a:srgbClr val="3f3f3f">
                    <a:alpha val="5000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0" lIns="0" rIns="0" rtlCol="0" tIns="0">
                <a:normAutofit fontScale="100000" lnSpcReduction="0"/>
              </a:bodyPr>
              <a:lstStyle/>
              <a:p>
                <a:pPr algn="ctr"/>
                <a:r>
                  <a:rPr b="1" dirty="0" lang="en-US" sz="700">
                    <a:solidFill>
                      <a:srgbClr val="ff0000"/>
                    </a:solidFill>
                    <a:latin typeface="+mn-lt"/>
                  </a:rPr>
                  <a:t>11</a:t>
                </a:r>
                <a:endParaRPr b="1" dirty="0" lang="en-US" sz="700">
                  <a:solidFill>
                    <a:srgbClr val="ff0000"/>
                  </a:solidFill>
                  <a:latin typeface="+mn-lt"/>
                </a:endParaRPr>
              </a:p>
            </p:txBody>
          </p:sp>
        </p:grpSp>
      </p:grpSp>
    </p:spTree>
    <p:extLst>
      <p:ext uri="{EEE11CAD-BB23-48A5-A132-5FD7CF40B4C2}">
        <p14:creationId xmlns:p14="http://schemas.microsoft.com/office/powerpoint/2010/main" val="177273993340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3B8DE230-38BC-456F-830E-C2249248D0B8}">
                <a16:creationId xmlns:a16="http://schemas.microsoft.com/office/drawing/2010/main" id="{4EACE4D8-D0E3-4376-AACD-D70E3971B9BB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Feature </a:t>
            </a:r>
            <a:r>
              <a:rPr dirty="0" lang="en-US">
                <a:latin typeface="Lato"/>
              </a:rPr>
              <a:t>Selection</a:t>
            </a:r>
            <a:endParaRPr dirty="0" lang="en-US">
              <a:latin typeface="Lato"/>
            </a:endParaRPr>
          </a:p>
        </p:txBody>
      </p:sp>
      <p:sp>
        <p:nvSpPr>
          <p:cNvPr id="3" name="Content Placeholder 2">
            <a:extLst>
              <a:ext uri="{053B7BC2-41F5-4C56-9A08-664F73D7B16D}">
                <a16:creationId xmlns:a16="http://schemas.microsoft.com/office/drawing/2010/main" id="{F389D909-3FC5-49E7-AE94-4ADDF7B8062D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28750"/>
            <a:ext cx="7620000" cy="3394300"/>
          </a:xfrm>
        </p:spPr>
        <p:txBody>
          <a:bodyPr rtlCol="0">
            <a:normAutofit fontScale="100000" lnSpcReduction="0"/>
          </a:bodyPr>
          <a:lstStyle/>
          <a:p>
            <a:pPr/>
            <a:r>
              <a:rPr dirty="0" lang="en-US" sz="900">
                <a:latin typeface="Lato"/>
              </a:rPr>
              <a:t>Feature selection is a critical step in the machine learning development process. It involves identifying and selecting the most relevant features that significantly influence the target variable. Proper feature selection helps </a:t>
            </a:r>
            <a:r>
              <a:rPr b="1" dirty="0" lang="en-US" sz="900">
                <a:latin typeface="Lato"/>
              </a:rPr>
              <a:t>reduce </a:t>
            </a:r>
            <a:r>
              <a:rPr b="1" dirty="0" lang="en-US" sz="900">
                <a:latin typeface="Lato"/>
              </a:rPr>
              <a:t>multicollinearity</a:t>
            </a:r>
            <a:r>
              <a:rPr dirty="0" lang="en-US" sz="900">
                <a:latin typeface="Lato"/>
              </a:rPr>
              <a:t>, </a:t>
            </a:r>
            <a:r>
              <a:rPr b="1" dirty="0" lang="en-US" sz="900">
                <a:latin typeface="Lato"/>
              </a:rPr>
              <a:t>removes redundant or irrelevant variables</a:t>
            </a:r>
            <a:r>
              <a:rPr dirty="0" lang="en-US" sz="900">
                <a:latin typeface="Lato"/>
              </a:rPr>
              <a:t>, </a:t>
            </a:r>
            <a:r>
              <a:rPr b="1" dirty="0" lang="en-US" sz="900">
                <a:latin typeface="Lato"/>
              </a:rPr>
              <a:t>improves model performance</a:t>
            </a:r>
            <a:r>
              <a:rPr dirty="0" lang="en-US" sz="900">
                <a:latin typeface="Lato"/>
              </a:rPr>
              <a:t>, and </a:t>
            </a:r>
            <a:r>
              <a:rPr dirty="0" lang="en-US" sz="900">
                <a:latin typeface="Lato"/>
              </a:rPr>
              <a:t>enhances </a:t>
            </a:r>
            <a:r>
              <a:rPr dirty="0" lang="en-US" sz="900">
                <a:latin typeface="Lato"/>
              </a:rPr>
              <a:t>interpretability</a:t>
            </a:r>
            <a:r>
              <a:rPr dirty="0" lang="en-US" sz="900">
                <a:latin typeface="Lato"/>
              </a:rPr>
              <a:t>. It also reduces computational complexity and helps prevent </a:t>
            </a:r>
            <a:r>
              <a:rPr dirty="0" lang="en-US" sz="900">
                <a:latin typeface="Lato"/>
              </a:rPr>
              <a:t>overfitting.</a:t>
            </a:r>
          </a:p>
          <a:p>
            <a:pPr/>
            <a:r>
              <a:rPr dirty="0" lang="en-US" sz="900">
                <a:latin typeface="Lato"/>
              </a:rPr>
              <a:t>Instead of relying on a single method such as a </a:t>
            </a:r>
            <a:r>
              <a:rPr b="1" dirty="0" lang="en-US" sz="900">
                <a:latin typeface="Lato"/>
              </a:rPr>
              <a:t>correlation </a:t>
            </a:r>
            <a:r>
              <a:rPr b="1" dirty="0" lang="en-US" sz="900">
                <a:latin typeface="Lato"/>
              </a:rPr>
              <a:t>heatmap</a:t>
            </a:r>
            <a:r>
              <a:rPr dirty="0" lang="en-US" sz="900">
                <a:latin typeface="Lato"/>
              </a:rPr>
              <a:t>, we adopted a more robust and comprehensive approach by applying multiple feature selection techniques. This helps ensure that the selected features are consistently important across different modeling perspectives.</a:t>
            </a:r>
          </a:p>
          <a:p>
            <a:pPr/>
            <a:r>
              <a:rPr dirty="0" lang="en-US">
                <a:latin typeface="Lato"/>
              </a:rPr>
              <a:t/>
            </a:r>
            <a:endParaRPr dirty="0" lang="en-US">
              <a:latin typeface="Lato"/>
            </a:endParaRPr>
          </a:p>
        </p:txBody>
      </p:sp>
      <p:grpSp>
        <p:nvGrpSpPr>
          <p:cNvPr id="4" name="Group Shape 11">
            <a:extLst>
              <a:ext uri="{4BB03787-C030-414D-B7B7-73E6D7C9955C}">
                <a16:creationId xmlns:a16="http://schemas.microsoft.com/office/drawing/2010/main" id="{D9EDA69E-8816-4320-A1C1-7773984CDD11}"/>
              </a:ext>
            </a:extLst>
          </p:cNvPr>
          <p:cNvGrpSpPr>
            <a:grpSpLocks noChangeAspect="true"/>
          </p:cNvGrpSpPr>
          <p:nvPr/>
        </p:nvGrpSpPr>
        <p:grpSpPr>
          <a:xfrm flipH="false" flipV="false" rot="0">
            <a:off x="1695345" y="2561939"/>
            <a:ext cx="5753319" cy="2261111"/>
            <a:chOff x="1695345" y="2561939"/>
            <a:chExt cx="5753319" cy="2261111"/>
          </a:xfrm>
        </p:grpSpPr>
        <p:grpSp>
          <p:nvGrpSpPr>
            <p:cNvPr id="5" name="Group Shape 13">
              <a:extLst>
                <a:ext uri="{061D0F70-39D5-40AE-8A92-A1B20F136513}">
                  <a16:creationId xmlns:a16="http://schemas.microsoft.com/office/drawing/2010/main" id="{E1B3187A-1FAD-4E50-BDE2-B3482F687A4D}"/>
                </a:ext>
              </a:extLst>
            </p:cNvPr>
            <p:cNvGrpSpPr>
              <a:grpSpLocks noChangeAspect="true"/>
            </p:cNvGrpSpPr>
            <p:nvPr/>
          </p:nvGrpSpPr>
          <p:grpSpPr>
            <a:xfrm flipH="false" flipV="false" rot="0">
              <a:off x="1695345" y="3085146"/>
              <a:ext cx="5753319" cy="1205320"/>
              <a:chOff x="1695345" y="3085146"/>
              <a:chExt cx="5753319" cy="1205320"/>
            </a:xfrm>
          </p:grpSpPr>
          <p:sp>
            <p:nvSpPr>
              <p:cNvPr id="6" name="Text Box  - Cycle Diagram 3 ">
                <a:extLst>
                  <a:ext uri="{54DC223F-C1C5-44C3-8F26-FA5D22BF36F0}">
                    <a16:creationId xmlns:a16="http://schemas.microsoft.com/office/drawing/2010/main" id="{9D1850C9-9795-49A1-9205-11A6BB08F0E5}"/>
                  </a:ext>
                </a:extLst>
              </p:cNvPr>
              <p:cNvSpPr txBox="1">
                <a:spLocks noChangeAspect="true"/>
              </p:cNvSpPr>
              <p:nvPr/>
            </p:nvSpPr>
            <p:spPr>
              <a:xfrm flipH="false" flipV="false" rot="0">
                <a:off x="3965838" y="3085146"/>
                <a:ext cx="1205323" cy="1205320"/>
              </a:xfrm>
              <a:prstGeom prst="ellipse">
                <a:avLst/>
              </a:prstGeom>
              <a:solidFill>
                <a:schemeClr val="bg1"/>
              </a:solidFill>
            </p:spPr>
            <p:txBody>
              <a:bodyPr anchor="ctr" bIns="47625" lIns="95250" rIns="95250" rtlCol="0" tIns="47625">
                <a:noAutofit/>
              </a:bodyPr>
              <a:lstStyle/>
              <a:p>
                <a:pPr algn="ctr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dirty="0" lang="en-US" sz="1400"/>
                </a:pPr>
                <a:r>
                  <a:rPr b="1" dirty="0" lang="en-US" sz="1000">
                    <a:solidFill>
                      <a:schemeClr val="tx1"/>
                    </a:solidFill>
                    <a:latin typeface="+mn-lt"/>
                  </a:rPr>
                  <a:t>Feature </a:t>
                </a:r>
                <a:r>
                  <a:rPr b="1" dirty="0" lang="en-US" sz="1000">
                    <a:solidFill>
                      <a:schemeClr val="tx1"/>
                    </a:solidFill>
                    <a:latin typeface="Lato"/>
                  </a:rPr>
                  <a:t>Selection</a:t>
                </a:r>
              </a:p>
              <a:p>
                <a:pPr algn="ctr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dirty="0" lang="en-US" sz="1400"/>
                </a:pPr>
                <a:r>
                  <a:rPr b="1" dirty="0" lang="en-US" sz="1000">
                    <a:solidFill>
                      <a:schemeClr val="tx1"/>
                    </a:solidFill>
                    <a:latin typeface="Lato"/>
                  </a:rPr>
                  <a:t>Techniques</a:t>
                </a:r>
                <a:endParaRPr b="1" dirty="0" lang="en-US" sz="1000">
                  <a:solidFill>
                    <a:schemeClr val="tx1"/>
                  </a:solidFill>
                  <a:latin typeface="Lato"/>
                </a:endParaRPr>
              </a:p>
            </p:txBody>
          </p:sp>
          <p:grpSp>
            <p:nvGrpSpPr>
              <p:cNvPr id="7" name="Group Shape 8">
                <a:extLst>
                  <a:ext uri="{1D4E6E20-230A-4CF8-8485-649B16434CFD}">
                    <a16:creationId xmlns:a16="http://schemas.microsoft.com/office/drawing/2010/main" id="{97FA7FD8-0F00-4A50-B728-99864741CDFD}"/>
                  </a:ext>
                </a:extLst>
              </p:cNvPr>
              <p:cNvGrpSpPr>
                <a:grpSpLocks noChangeAspect="true" noUngrp="true"/>
              </p:cNvGrpSpPr>
              <p:nvPr/>
            </p:nvGrpSpPr>
            <p:grpSpPr>
              <a:xfrm flipH="false" flipV="false" rot="0">
                <a:off x="5086860" y="3195797"/>
                <a:ext cx="2361804" cy="969522"/>
                <a:chOff x="5276564" y="1893474"/>
                <a:chExt cx="3210210" cy="1317797"/>
              </a:xfrm>
            </p:grpSpPr>
            <p:sp>
              <p:nvSpPr>
                <p:cNvPr id="8" name="">
                  <a:extLst>
                    <a:ext uri="{0C11C5FA-DB16-410A-BEE2-095636F5F564}">
                      <a16:creationId xmlns:a16="http://schemas.microsoft.com/office/drawing/2010/main" id="{E9A56BDC-E81B-4EE4-BED0-42721D3B59B2}"/>
                    </a:ext>
                  </a:extLst>
                </p:cNvPr>
                <p:cNvSpPr>
                  <a:spLocks noChangeAspect="true" noMove="true" noResize="true" noRot="true" noSelect="true"/>
                </p:cNvSpPr>
                <p:nvPr/>
              </p:nvSpPr>
              <p:spPr>
                <a:xfrm flipH="false" flipV="false" rot="10800000">
                  <a:off x="6019800" y="2493235"/>
                  <a:ext cx="123825" cy="123825"/>
                </a:xfrm>
                <a:prstGeom prst="flowChartExtract">
                  <a:avLst/>
                </a:prstGeom>
                <a:solidFill>
                  <a:schemeClr val="accent2"/>
                </a:solidFill>
                <a:effectLst/>
              </p:spPr>
              <p:style>
                <a:lnRef idx="1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rgbClr val="ffffff"/>
                </a:fontRef>
              </p:style>
              <p:txBody>
                <a:bodyPr anchor="ctr" rtlCol="0">
                  <a:noAutofit/>
                </a:bodyPr>
                <a:lstStyle/>
                <a:p>
                  <a:pPr algn="ctr"/>
                  <a:r>
                    <a:rPr dirty="0" lang="en-US"/>
                    <a:t/>
                  </a:r>
                  <a:endParaRPr dirty="0" lang="en-US"/>
                </a:p>
              </p:txBody>
            </p:sp>
            <p:sp>
              <p:nvSpPr>
                <p:cNvPr id="9" name="shape-A805">
                  <a:extLst>
                    <a:ext uri="{6ABF7D24-30CC-49D6-85E7-C3CB60BF8A1A}">
                      <a16:creationId xmlns:a16="http://schemas.microsoft.com/office/drawing/2010/main" id="{D30B5C65-9598-4A37-9C36-A2E6431E692A}"/>
                    </a:ext>
                  </a:extLst>
                </p:cNvPr>
                <p:cNvSpPr>
                  <a:spLocks noChangeAspect="true" noMove="true" noResize="true" noRot="true" noSelect="true"/>
                </p:cNvSpPr>
                <p:nvPr/>
              </p:nvSpPr>
              <p:spPr>
                <a:xfrm rot="0">
                  <a:off x="5276564" y="1893474"/>
                  <a:ext cx="657510" cy="1317797"/>
                </a:xfrm>
                <a:custGeom>
                  <a:avLst/>
                  <a:gdLst/>
                  <a:ahLst/>
                  <a:cxnLst/>
                  <a:rect b="b" l="0" r="r" t="0"/>
                  <a:pathLst>
                    <a:path h="690835" w="344689">
                      <a:moveTo>
                        <a:pt x="344689" y="345411"/>
                      </a:moveTo>
                      <a:cubicBezTo>
                        <a:pt x="344689" y="470704"/>
                        <a:pt x="312455" y="588496"/>
                        <a:pt x="255652" y="690835"/>
                      </a:cubicBezTo>
                      <a:lnTo>
                        <a:pt x="0" y="543179"/>
                      </a:lnTo>
                      <a:cubicBezTo>
                        <a:pt x="31604" y="484276"/>
                        <a:pt x="49532" y="416932"/>
                        <a:pt x="49532" y="345411"/>
                      </a:cubicBezTo>
                      <a:cubicBezTo>
                        <a:pt x="49532" y="273890"/>
                        <a:pt x="31617" y="206558"/>
                        <a:pt x="0" y="147656"/>
                      </a:cubicBezTo>
                      <a:lnTo>
                        <a:pt x="255756" y="0"/>
                      </a:lnTo>
                      <a:cubicBezTo>
                        <a:pt x="312455" y="102338"/>
                        <a:pt x="344689" y="220040"/>
                        <a:pt x="344689" y="3454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</p:spPr>
              <p:txBody>
                <a:bodyPr anchor="ctr" rtlCol="0">
                  <a:noAutofit/>
                </a:bodyPr>
                <a:lstStyle/>
                <a:p>
                  <a:pPr algn="ctr"/>
                  <a:r>
                    <a:rPr dirty="0" lang="en-US"/>
                    <a:t/>
                  </a:r>
                  <a:endParaRPr dirty="0" lang="en-US"/>
                </a:p>
              </p:txBody>
            </p:sp>
            <p:sp>
              <p:nvSpPr>
                <p:cNvPr id="10" name="Rectangle  - Group Shape 11 ">
                  <a:extLst>
                    <a:ext uri="{1A8AAEC6-A612-47A4-A29F-28B4DC0E0930}">
                      <a16:creationId xmlns:a16="http://schemas.microsoft.com/office/drawing/2010/main" id="{550B22CA-DD83-4CE4-9692-17D24278BEA5}"/>
                    </a:ext>
                  </a:extLst>
                </p:cNvPr>
                <p:cNvSpPr>
                  <a:spLocks noChangeAspect="true" noMove="true" noResize="true" noRot="true" noSelect="true"/>
                </p:cNvSpPr>
                <p:nvPr/>
              </p:nvSpPr>
              <p:spPr>
                <a:xfrm flipH="false" flipV="false" rot="0">
                  <a:off x="6581774" y="2295525"/>
                  <a:ext cx="1905000" cy="47625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bg1"/>
                </a:solidFill>
                <a:ln cap="flat" w="9525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</a:ln>
                <a:effectLst>
                  <a:outerShdw blurRad="50800" dir="2700000" dist="95250">
                    <a:srgbClr val="3f3f3f">
                      <a:alpha val="39999"/>
                    </a:srgbClr>
                  </a:outerShdw>
                </a:effectLst>
              </p:spPr>
              <p:style>
                <a:lnRef idx="1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rgbClr val="ffffff"/>
                </a:fontRef>
              </p:style>
              <p:txBody>
                <a:bodyPr anchor="ctr" bIns="47625" lIns="571500" rIns="47625" rtlCol="0" tIns="47625">
                  <a:noAutofit/>
                </a:bodyPr>
                <a:lstStyle/>
                <a:p>
                  <a:pPr algn="ctr" rtl="false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b="1" dirty="0" lang="en-US" sz="600">
                      <a:solidFill>
                        <a:schemeClr val="tx1"/>
                      </a:solidFill>
                      <a:latin typeface="Open Sans"/>
                    </a:rPr>
                    <a:t>Recursive Feature Elimination (</a:t>
                  </a:r>
                  <a:r>
                    <a:rPr b="1" dirty="0" lang="en-US" sz="600">
                      <a:solidFill>
                        <a:schemeClr val="tx1"/>
                      </a:solidFill>
                      <a:latin typeface="Open Sans"/>
                    </a:rPr>
                    <a:t>RFE</a:t>
                  </a:r>
                  <a:r>
                    <a:rPr b="1" dirty="0" lang="en-US" sz="600">
                      <a:solidFill>
                        <a:schemeClr val="tx1"/>
                      </a:solidFill>
                      <a:latin typeface="Open Sans"/>
                    </a:rPr>
                    <a:t>)</a:t>
                  </a:r>
                  <a:endParaRPr b="1" dirty="0" lang="en-US" sz="600">
                    <a:solidFill>
                      <a:schemeClr val="tx1"/>
                    </a:solidFill>
                    <a:latin typeface="Open Sans"/>
                  </a:endParaRPr>
                </a:p>
              </p:txBody>
            </p:sp>
            <p:sp>
              <p:nvSpPr>
                <p:cNvPr id="11" name="Oval  - Group Shape 11 ">
                  <a:extLst>
                    <a:ext uri="{B5A43851-8AB9-4818-A726-E2D68364659B}">
                      <a16:creationId xmlns:a16="http://schemas.microsoft.com/office/drawing/2010/main" id="{FD8F6626-26C6-4AC8-9298-660C27887B95}"/>
                    </a:ext>
                  </a:extLst>
                </p:cNvPr>
                <p:cNvSpPr>
                  <a:spLocks noChangeAspect="true" noMove="true" noResize="true" noRot="true" noSelect="true"/>
                </p:cNvSpPr>
                <p:nvPr/>
              </p:nvSpPr>
              <p:spPr>
                <a:xfrm flipH="false" flipV="false" rot="0">
                  <a:off x="6572250" y="2288219"/>
                  <a:ext cx="476250" cy="47625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37885">
                      <a:schemeClr val="bg1"/>
                    </a:gs>
                  </a:gsLst>
                  <a:lin ang="2040000" scaled="0"/>
                </a:gradFill>
                <a:ln cap="flat" w="9525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</a:ln>
                <a:effectLst/>
              </p:spPr>
              <p:style>
                <a:lnRef idx="1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rgbClr val="ffffff"/>
                </a:fontRef>
              </p:style>
              <p:txBody>
                <a:bodyPr anchor="t" rtlCol="0">
                  <a:normAutofit fontScale="100000" lnSpcReduction="0"/>
                </a:bodyPr>
                <a:lstStyle/>
                <a:p>
                  <a:pPr algn="ctr"/>
                  <a:r>
                    <a:rPr b="1" dirty="0" lang="en-US" sz="1000">
                      <a:solidFill>
                        <a:schemeClr val="accent2">
                          <a:lumMod val="75000"/>
                        </a:schemeClr>
                      </a:solidFill>
                      <a:latin typeface="+mn-lt"/>
                    </a:rPr>
                    <a:t>2</a:t>
                  </a:r>
                  <a:endParaRPr b="1" dirty="0" lang="en-US" sz="1000">
                    <a:solidFill>
                      <a:schemeClr val="accent2">
                        <a:lumMod val="75000"/>
                      </a:schemeClr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2" name="Group Shape 11">
                <a:extLst>
                  <a:ext uri="{F1EBA86B-0D69-4B3A-990D-12162EA307BB}">
                    <a16:creationId xmlns:a16="http://schemas.microsoft.com/office/drawing/2010/main" id="{B5C7FDC6-0D56-49F2-9A47-B0E438D82797}"/>
                  </a:ext>
                </a:extLst>
              </p:cNvPr>
              <p:cNvGrpSpPr>
                <a:grpSpLocks noChangeAspect="true" noUngrp="true"/>
              </p:cNvGrpSpPr>
              <p:nvPr/>
            </p:nvGrpSpPr>
            <p:grpSpPr>
              <a:xfrm flipH="false" flipV="false" rot="0">
                <a:off x="1695345" y="3195796"/>
                <a:ext cx="2354811" cy="969522"/>
                <a:chOff x="666750" y="1893473"/>
                <a:chExt cx="3200705" cy="1317797"/>
              </a:xfrm>
            </p:grpSpPr>
            <p:sp>
              <p:nvSpPr>
                <p:cNvPr id="13" name="">
                  <a:extLst>
                    <a:ext uri="{9A870670-F48C-4DC6-BF1C-A08DF0D621B4}">
                      <a16:creationId xmlns:a16="http://schemas.microsoft.com/office/drawing/2010/main" id="{DF42976B-A766-4D85-890F-2CE9235CBFE4}"/>
                    </a:ext>
                  </a:extLst>
                </p:cNvPr>
                <p:cNvSpPr>
                  <a:spLocks noChangeAspect="true" noMove="true" noResize="true" noRot="true" noSelect="true"/>
                </p:cNvSpPr>
                <p:nvPr/>
              </p:nvSpPr>
              <p:spPr>
                <a:xfrm flipH="false" flipV="false" rot="21480000">
                  <a:off x="2981325" y="2502855"/>
                  <a:ext cx="123825" cy="123825"/>
                </a:xfrm>
                <a:prstGeom prst="flowChartExtract">
                  <a:avLst/>
                </a:prstGeom>
                <a:solidFill>
                  <a:schemeClr val="accent5"/>
                </a:solidFill>
                <a:effectLst/>
              </p:spPr>
              <p:style>
                <a:lnRef idx="1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rgbClr val="ffffff"/>
                </a:fontRef>
              </p:style>
              <p:txBody>
                <a:bodyPr anchor="ctr" rtlCol="0">
                  <a:noAutofit/>
                </a:bodyPr>
                <a:lstStyle/>
                <a:p>
                  <a:pPr algn="ctr"/>
                  <a:r>
                    <a:rPr dirty="0" lang="en-US"/>
                    <a:t/>
                  </a:r>
                  <a:endParaRPr dirty="0" lang="en-US"/>
                </a:p>
              </p:txBody>
            </p:sp>
            <p:sp>
              <p:nvSpPr>
                <p:cNvPr id="14" name="shape-EC89">
                  <a:extLst>
                    <a:ext uri="{9E2D0376-9D20-40C2-9CB2-F9683A8EB786}">
                      <a16:creationId xmlns:a16="http://schemas.microsoft.com/office/drawing/2010/main" id="{C6248714-640B-4CE3-BA2C-CF1726B07430}"/>
                    </a:ext>
                  </a:extLst>
                </p:cNvPr>
                <p:cNvSpPr>
                  <a:spLocks noChangeAspect="true" noMove="true" noResize="true" noRot="true" noSelect="true"/>
                </p:cNvSpPr>
                <p:nvPr/>
              </p:nvSpPr>
              <p:spPr>
                <a:xfrm rot="0">
                  <a:off x="3209922" y="1893473"/>
                  <a:ext cx="657533" cy="1317797"/>
                </a:xfrm>
                <a:custGeom>
                  <a:avLst/>
                  <a:gdLst/>
                  <a:ahLst/>
                  <a:cxnLst/>
                  <a:rect b="b" l="0" r="r" t="0"/>
                  <a:pathLst>
                    <a:path h="690835" w="344702">
                      <a:moveTo>
                        <a:pt x="344702" y="543179"/>
                      </a:moveTo>
                      <a:lnTo>
                        <a:pt x="89037" y="690835"/>
                      </a:lnTo>
                      <a:cubicBezTo>
                        <a:pt x="32235" y="588496"/>
                        <a:pt x="0" y="470704"/>
                        <a:pt x="0" y="345411"/>
                      </a:cubicBezTo>
                      <a:cubicBezTo>
                        <a:pt x="0" y="220117"/>
                        <a:pt x="32235" y="102338"/>
                        <a:pt x="88946" y="0"/>
                      </a:cubicBezTo>
                      <a:lnTo>
                        <a:pt x="344688" y="147656"/>
                      </a:lnTo>
                      <a:cubicBezTo>
                        <a:pt x="313085" y="206558"/>
                        <a:pt x="295156" y="273890"/>
                        <a:pt x="295156" y="345411"/>
                      </a:cubicBezTo>
                      <a:cubicBezTo>
                        <a:pt x="295156" y="416932"/>
                        <a:pt x="313085" y="484276"/>
                        <a:pt x="344701" y="54317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</p:spPr>
              <p:txBody>
                <a:bodyPr anchor="ctr" rtlCol="0">
                  <a:noAutofit/>
                </a:bodyPr>
                <a:lstStyle/>
                <a:p>
                  <a:pPr algn="ctr"/>
                  <a:r>
                    <a:rPr dirty="0" lang="en-US"/>
                    <a:t/>
                  </a:r>
                  <a:endParaRPr dirty="0" lang="en-US"/>
                </a:p>
              </p:txBody>
            </p:sp>
            <p:sp>
              <p:nvSpPr>
                <p:cNvPr id="15" name="Rectangle  - Cycle Diagram 3 ">
                  <a:extLst>
                    <a:ext uri="{2BC7A1B0-1C7F-47BA-BB6F-1311C8207137}">
                      <a16:creationId xmlns:a16="http://schemas.microsoft.com/office/drawing/2010/main" id="{B1CDA1F0-AA4A-4DFA-A586-F5F7F9B5D123}"/>
                    </a:ext>
                  </a:extLst>
                </p:cNvPr>
                <p:cNvSpPr>
                  <a:spLocks noChangeAspect="true" noMove="true" noResize="true" noRot="true" noSelect="true"/>
                </p:cNvSpPr>
                <p:nvPr/>
              </p:nvSpPr>
              <p:spPr>
                <a:xfrm flipH="true" flipV="false" rot="0">
                  <a:off x="666750" y="2295525"/>
                  <a:ext cx="1905000" cy="47625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bg1"/>
                </a:solidFill>
                <a:ln cap="flat" w="9525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</a:ln>
                <a:effectLst>
                  <a:outerShdw blurRad="50800" dir="2700000" dist="95250">
                    <a:srgbClr val="3f3f3f">
                      <a:alpha val="39999"/>
                    </a:srgbClr>
                  </a:outerShdw>
                </a:effectLst>
              </p:spPr>
              <p:style>
                <a:lnRef idx="1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rgbClr val="ffffff"/>
                </a:fontRef>
              </p:style>
              <p:txBody>
                <a:bodyPr anchor="ctr" bIns="47625" lIns="47625" rIns="571500" rtlCol="0" tIns="47625">
                  <a:noAutofit/>
                </a:bodyPr>
                <a:lstStyle/>
                <a:p>
                  <a:pPr algn="l" rtl="false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b="1" dirty="0" lang="en-US" sz="600">
                      <a:solidFill>
                        <a:schemeClr val="tx1"/>
                      </a:solidFill>
                      <a:latin typeface="Open Sans"/>
                    </a:rPr>
                    <a:t>Gradient Boosting Feature Importance</a:t>
                  </a:r>
                  <a:endParaRPr b="1" dirty="0" lang="en-US" sz="600">
                    <a:solidFill>
                      <a:schemeClr val="tx1"/>
                    </a:solidFill>
                    <a:latin typeface="Open Sans"/>
                  </a:endParaRPr>
                </a:p>
              </p:txBody>
            </p:sp>
            <p:sp>
              <p:nvSpPr>
                <p:cNvPr id="16" name="Oval  - Group Shape 11 ">
                  <a:extLst>
                    <a:ext uri="{CAB6D95B-D76D-44F3-84C0-0791DABF6D31}">
                      <a16:creationId xmlns:a16="http://schemas.microsoft.com/office/drawing/2010/main" id="{A5F809E2-B407-41E4-9B3E-7F6D4128B00F}"/>
                    </a:ext>
                  </a:extLst>
                </p:cNvPr>
                <p:cNvSpPr>
                  <a:spLocks noChangeAspect="true" noMove="true" noResize="true" noRot="true" noSelect="true"/>
                </p:cNvSpPr>
                <p:nvPr/>
              </p:nvSpPr>
              <p:spPr>
                <a:xfrm flipH="true" flipV="false" rot="0">
                  <a:off x="2095500" y="2295525"/>
                  <a:ext cx="476250" cy="47625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  <a:gs pos="37885">
                      <a:schemeClr val="bg1"/>
                    </a:gs>
                  </a:gsLst>
                  <a:lin ang="2040000" scaled="0"/>
                </a:gradFill>
                <a:ln cap="flat" w="9525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</a:ln>
                <a:effectLst/>
              </p:spPr>
              <p:style>
                <a:lnRef idx="1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rgbClr val="ffffff"/>
                </a:fontRef>
              </p:style>
              <p:txBody>
                <a:bodyPr anchor="t" rtlCol="0">
                  <a:normAutofit fontScale="100000" lnSpcReduction="0"/>
                </a:bodyPr>
                <a:lstStyle/>
                <a:p>
                  <a:pPr algn="ctr"/>
                  <a:r>
                    <a:rPr b="1" dirty="0" lang="en-US" sz="1000">
                      <a:solidFill>
                        <a:schemeClr val="accent2">
                          <a:lumMod val="75000"/>
                        </a:schemeClr>
                      </a:solidFill>
                      <a:latin typeface="+mn-lt"/>
                    </a:rPr>
                    <a:t>5</a:t>
                  </a:r>
                  <a:endParaRPr b="1" dirty="0" lang="en-US" sz="1000">
                    <a:solidFill>
                      <a:schemeClr val="accent2">
                        <a:lumMod val="75000"/>
                      </a:schemeClr>
                    </a:solidFill>
                    <a:latin typeface="+mn-lt"/>
                  </a:endParaRPr>
                </a:p>
              </p:txBody>
            </p:sp>
          </p:grpSp>
        </p:grpSp>
        <p:grpSp>
          <p:nvGrpSpPr>
            <p:cNvPr id="17" name="Group Shape 6">
              <a:extLst>
                <a:ext uri="{79A8A7F0-5CF7-4490-BED7-9130745F14D3}">
                  <a16:creationId xmlns:a16="http://schemas.microsoft.com/office/drawing/2010/main" id="{AFDD8B89-5990-4024-92B5-EC8D8B6F161A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4587309" y="2580593"/>
              <a:ext cx="2574037" cy="789811"/>
              <a:chOff x="4597565" y="1057275"/>
              <a:chExt cx="3498682" cy="1073529"/>
            </a:xfrm>
          </p:grpSpPr>
          <p:sp>
            <p:nvSpPr>
              <p:cNvPr id="18" name="Extract  - Cycle Diagram 3">
                <a:extLst>
                  <a:ext uri="{3F26F647-1C5D-41E7-A726-4F9F8423ECAF}">
                    <a16:creationId xmlns:a16="http://schemas.microsoft.com/office/drawing/2010/main" id="{4AABC74C-6C14-4EAD-A325-4EA006950495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7440000">
                <a:off x="5381625" y="1247775"/>
                <a:ext cx="123825" cy="123825"/>
              </a:xfrm>
              <a:prstGeom prst="flowChartExtract">
                <a:avLst/>
              </a:prstGeom>
              <a:solidFill>
                <a:schemeClr val="accent1"/>
              </a:solidFill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9" name="shape-EC89">
                <a:extLst>
                  <a:ext uri="{4CD84E59-20FE-4DB8-A1F8-045F34A76AB4}">
                    <a16:creationId xmlns:a16="http://schemas.microsoft.com/office/drawing/2010/main" id="{9ADEDF1E-9A9C-4AAD-9D72-2C4C0218CBAB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rot="0">
                <a:off x="4597565" y="1190626"/>
                <a:ext cx="1141120" cy="940177"/>
              </a:xfrm>
              <a:custGeom>
                <a:avLst/>
                <a:gdLst/>
                <a:ahLst/>
                <a:cxnLst/>
                <a:rect b="b" l="0" r="r" t="0"/>
                <a:pathLst>
                  <a:path h="492873" w="598215">
                    <a:moveTo>
                      <a:pt x="598215" y="345243"/>
                    </a:moveTo>
                    <a:lnTo>
                      <a:pt x="342524" y="492873"/>
                    </a:lnTo>
                    <a:cubicBezTo>
                      <a:pt x="270797" y="377607"/>
                      <a:pt x="144653" y="299732"/>
                      <a:pt x="0" y="295196"/>
                    </a:cubicBezTo>
                    <a:lnTo>
                      <a:pt x="0" y="0"/>
                    </a:lnTo>
                    <a:cubicBezTo>
                      <a:pt x="253874" y="4640"/>
                      <a:pt x="475344" y="141727"/>
                      <a:pt x="598215" y="345243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20" name="Rectangle  - Group Shape 11 ">
                <a:extLst>
                  <a:ext uri="{BDA4509A-F72D-4FF6-84E8-98A9F6D0C994}">
                    <a16:creationId xmlns:a16="http://schemas.microsoft.com/office/drawing/2010/main" id="{1B6F2351-2D64-4043-92C4-AD31D458C4AF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6191247" y="1057275"/>
                <a:ext cx="1905000" cy="476250"/>
              </a:xfrm>
              <a:prstGeom prst="roundRect">
                <a:avLst>
                  <a:gd fmla="val 50000" name="adj"/>
                </a:avLst>
              </a:prstGeom>
              <a:solidFill>
                <a:schemeClr val="bg1"/>
              </a:solidFill>
              <a:ln cap="flat" w="9525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  <a:effectLst>
                <a:outerShdw blurRad="50800" dir="2700000" dist="95250">
                  <a:srgbClr val="3f3f3f">
                    <a:alpha val="39999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47625" lIns="571500" rIns="47625" rtlCol="0" tIns="47625">
                <a:noAutofit/>
              </a:bodyPr>
              <a:lstStyle/>
              <a:p>
                <a:pPr algn="l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600">
                    <a:solidFill>
                      <a:schemeClr val="tx1"/>
                    </a:solidFill>
                    <a:latin typeface="Open Sans"/>
                  </a:rPr>
                  <a:t>Logistic Regression Coefficients</a:t>
                </a:r>
                <a:endParaRPr b="1" dirty="0" lang="en-US" sz="600">
                  <a:solidFill>
                    <a:schemeClr val="tx1"/>
                  </a:solidFill>
                  <a:latin typeface="Open Sans"/>
                </a:endParaRPr>
              </a:p>
            </p:txBody>
          </p:sp>
          <p:sp>
            <p:nvSpPr>
              <p:cNvPr id="21" name="Oval  - Group Shape 11 ">
                <a:extLst>
                  <a:ext uri="{23F57C66-2228-4CA0-BD3B-AD4BB1827222}">
                    <a16:creationId xmlns:a16="http://schemas.microsoft.com/office/drawing/2010/main" id="{F7BA7CE6-88EF-4151-BAA2-1D9C60138E02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6191247" y="1057275"/>
                <a:ext cx="476250" cy="47625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  <a:gs pos="37885">
                    <a:schemeClr val="bg1"/>
                  </a:gs>
                </a:gsLst>
                <a:lin ang="2040000" scaled="0"/>
              </a:gradFill>
              <a:ln cap="flat" w="9525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rtlCol="0">
                <a:noAutofit/>
              </a:bodyPr>
              <a:lstStyle/>
              <a:p>
                <a:pPr algn="ctr"/>
                <a:r>
                  <a:rPr b="1" dirty="0" lang="en-US" sz="1200">
                    <a:solidFill>
                      <a:schemeClr val="accent2">
                        <a:lumMod val="75000"/>
                      </a:schemeClr>
                    </a:solidFill>
                    <a:latin typeface="+mn-lt"/>
                  </a:rPr>
                  <a:t>1</a:t>
                </a:r>
                <a:endParaRPr b="1" dirty="0" lang="en-US" sz="1200">
                  <a:solidFill>
                    <a:schemeClr val="accent2">
                      <a:lumMod val="75000"/>
                    </a:schemeClr>
                  </a:solidFill>
                  <a:latin typeface="+mn-lt"/>
                </a:endParaRPr>
              </a:p>
            </p:txBody>
          </p:sp>
        </p:grpSp>
        <p:grpSp>
          <p:nvGrpSpPr>
            <p:cNvPr id="22" name="Group Shape 9">
              <a:extLst>
                <a:ext uri="{15F0B378-2823-40EF-B35B-C1E5C1224AC2}">
                  <a16:creationId xmlns:a16="http://schemas.microsoft.com/office/drawing/2010/main" id="{297644AB-7F31-401C-AFA0-A37F5CB16404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4587311" y="3990602"/>
              <a:ext cx="2574037" cy="832447"/>
              <a:chOff x="4597568" y="2973792"/>
              <a:chExt cx="3498682" cy="1131482"/>
            </a:xfrm>
          </p:grpSpPr>
          <p:sp>
            <p:nvSpPr>
              <p:cNvPr id="23" name="">
                <a:extLst>
                  <a:ext uri="{BB3ECE8E-5872-4B78-8BDA-7D44133FAA50}">
                    <a16:creationId xmlns:a16="http://schemas.microsoft.com/office/drawing/2010/main" id="{2202F54E-8890-4E23-B38C-98E9C6C8F5A8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14040000">
                <a:off x="5353050" y="3762375"/>
                <a:ext cx="123825" cy="123825"/>
              </a:xfrm>
              <a:prstGeom prst="flowChartExtract">
                <a:avLst/>
              </a:prstGeom>
              <a:solidFill>
                <a:schemeClr val="accent3"/>
              </a:solidFill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24" name="shape-3062">
                <a:extLst>
                  <a:ext uri="{B296D652-692E-41D0-961A-4958C8B15C40}">
                    <a16:creationId xmlns:a16="http://schemas.microsoft.com/office/drawing/2010/main" id="{5E4A6F4D-5861-4D6C-BB77-F9818F128C4F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rot="0">
                <a:off x="4597568" y="2973792"/>
                <a:ext cx="1141120" cy="940300"/>
              </a:xfrm>
              <a:custGeom>
                <a:avLst/>
                <a:gdLst/>
                <a:ahLst/>
                <a:cxnLst/>
                <a:rect b="b" l="0" r="r" t="0"/>
                <a:pathLst>
                  <a:path h="492938" w="598215">
                    <a:moveTo>
                      <a:pt x="598215" y="147617"/>
                    </a:moveTo>
                    <a:cubicBezTo>
                      <a:pt x="475435" y="351134"/>
                      <a:pt x="253964" y="488298"/>
                      <a:pt x="0" y="492938"/>
                    </a:cubicBezTo>
                    <a:lnTo>
                      <a:pt x="0" y="197742"/>
                    </a:lnTo>
                    <a:cubicBezTo>
                      <a:pt x="144678" y="193205"/>
                      <a:pt x="270849" y="115304"/>
                      <a:pt x="342549" y="0"/>
                    </a:cubicBezTo>
                    <a:lnTo>
                      <a:pt x="598215" y="147617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25" name="Rectangle  - Group Shape 11 ">
                <a:extLst>
                  <a:ext uri="{576C932F-F4F1-41C7-9BCF-065804B56FBA}">
                    <a16:creationId xmlns:a16="http://schemas.microsoft.com/office/drawing/2010/main" id="{AF0825BF-516C-49CC-A807-5A1C7DE9363F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6191250" y="3629025"/>
                <a:ext cx="1905000" cy="476250"/>
              </a:xfrm>
              <a:prstGeom prst="roundRect">
                <a:avLst>
                  <a:gd fmla="val 50000" name="adj"/>
                </a:avLst>
              </a:prstGeom>
              <a:solidFill>
                <a:schemeClr val="bg1"/>
              </a:solidFill>
              <a:ln cap="flat" w="9525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  <a:effectLst>
                <a:outerShdw blurRad="50800" dir="2700000" dist="95250">
                  <a:srgbClr val="3f3f3f">
                    <a:alpha val="39999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47625" lIns="571500" rIns="47625" rtlCol="0" tIns="47625">
                <a:noAutofit/>
              </a:bodyPr>
              <a:lstStyle/>
              <a:p>
                <a:pPr algn="r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600">
                    <a:solidFill>
                      <a:schemeClr val="tx1"/>
                    </a:solidFill>
                    <a:latin typeface="Open Sans"/>
                  </a:rPr>
                  <a:t>L1 Regularization (Lasso)</a:t>
                </a:r>
                <a:endParaRPr b="1" dirty="0" lang="en-US" sz="600">
                  <a:solidFill>
                    <a:schemeClr val="tx1"/>
                  </a:solidFill>
                  <a:latin typeface="Open Sans"/>
                </a:endParaRPr>
              </a:p>
            </p:txBody>
          </p:sp>
          <p:sp>
            <p:nvSpPr>
              <p:cNvPr id="26" name="Oval  - Group Shape 11 ">
                <a:extLst>
                  <a:ext uri="{5A3C9275-6F14-4AC3-8929-50636FB991D5}">
                    <a16:creationId xmlns:a16="http://schemas.microsoft.com/office/drawing/2010/main" id="{B1E320C0-5864-42E0-BDF0-DDB5F008964C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0">
                <a:off x="6191250" y="3629025"/>
                <a:ext cx="476250" cy="47625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  <a:gs pos="37885">
                    <a:schemeClr val="bg1"/>
                  </a:gs>
                </a:gsLst>
                <a:lin ang="2040000" scaled="0"/>
              </a:gradFill>
              <a:ln cap="flat" w="9525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rtlCol="0">
                <a:normAutofit fontScale="100000" lnSpcReduction="0"/>
              </a:bodyPr>
              <a:lstStyle/>
              <a:p>
                <a:pPr algn="ctr"/>
                <a:r>
                  <a:rPr b="1" dirty="0" lang="en-US" sz="1000">
                    <a:solidFill>
                      <a:schemeClr val="accent2">
                        <a:lumMod val="75000"/>
                      </a:schemeClr>
                    </a:solidFill>
                    <a:latin typeface="+mn-lt"/>
                  </a:rPr>
                  <a:t>3</a:t>
                </a:r>
                <a:endParaRPr b="1" dirty="0" lang="en-US" sz="1000">
                  <a:solidFill>
                    <a:schemeClr val="accent2">
                      <a:lumMod val="75000"/>
                    </a:schemeClr>
                  </a:solidFill>
                  <a:latin typeface="+mn-lt"/>
                </a:endParaRPr>
              </a:p>
            </p:txBody>
          </p:sp>
        </p:grpSp>
        <p:grpSp>
          <p:nvGrpSpPr>
            <p:cNvPr id="27" name="Group Shape 10">
              <a:extLst>
                <a:ext uri="{9094CB74-842B-4586-B3C3-6B3AEF7C51B3}">
                  <a16:creationId xmlns:a16="http://schemas.microsoft.com/office/drawing/2010/main" id="{5D1A4758-38FB-42E2-AE39-9DED0D5FCB2B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1975652" y="3990602"/>
              <a:ext cx="2574052" cy="832447"/>
              <a:chOff x="1047750" y="2973792"/>
              <a:chExt cx="3498702" cy="1131482"/>
            </a:xfrm>
          </p:grpSpPr>
          <p:sp>
            <p:nvSpPr>
              <p:cNvPr id="28" name="">
                <a:extLst>
                  <a:ext uri="{1358FC9C-A3A7-4348-B808-1B5E5F685789}">
                    <a16:creationId xmlns:a16="http://schemas.microsoft.com/office/drawing/2010/main" id="{6F531997-0151-4B44-BCCC-F0D5FC6EB8A6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18240000">
                <a:off x="3667125" y="3763956"/>
                <a:ext cx="123825" cy="123825"/>
              </a:xfrm>
              <a:prstGeom prst="flowChartExtract">
                <a:avLst/>
              </a:prstGeom>
              <a:solidFill>
                <a:schemeClr val="accent4"/>
              </a:solidFill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29" name="shape-EC89">
                <a:extLst>
                  <a:ext uri="{B9F6F5ED-4497-47DE-AF79-793E8AF53CE1}">
                    <a16:creationId xmlns:a16="http://schemas.microsoft.com/office/drawing/2010/main" id="{44762479-2144-47B8-AFE5-4DFBA13F717C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rot="0">
                <a:off x="3405307" y="2973792"/>
                <a:ext cx="1141145" cy="940300"/>
              </a:xfrm>
              <a:custGeom>
                <a:avLst/>
                <a:gdLst/>
                <a:ahLst/>
                <a:cxnLst/>
                <a:rect b="b" l="0" r="r" t="0"/>
                <a:pathLst>
                  <a:path h="492938" w="598227">
                    <a:moveTo>
                      <a:pt x="598227" y="197742"/>
                    </a:moveTo>
                    <a:lnTo>
                      <a:pt x="598227" y="492938"/>
                    </a:lnTo>
                    <a:cubicBezTo>
                      <a:pt x="344251" y="488298"/>
                      <a:pt x="122793" y="351134"/>
                      <a:pt x="0" y="147617"/>
                    </a:cubicBezTo>
                    <a:lnTo>
                      <a:pt x="255665" y="0"/>
                    </a:lnTo>
                    <a:cubicBezTo>
                      <a:pt x="327379" y="115305"/>
                      <a:pt x="453548" y="193205"/>
                      <a:pt x="598227" y="197742"/>
                    </a:cubicBezTo>
                    <a:close/>
                  </a:path>
                </a:pathLst>
              </a:custGeom>
              <a:solidFill>
                <a:schemeClr val="accent4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30" name="Rectangle  - Cycle Diagram 3 ">
                <a:extLst>
                  <a:ext uri="{04B25246-D826-4196-8E93-B40F98371928}">
                    <a16:creationId xmlns:a16="http://schemas.microsoft.com/office/drawing/2010/main" id="{320F8529-6517-4910-B2EA-FFA298D465FF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true" flipV="false" rot="0">
                <a:off x="1047750" y="3629025"/>
                <a:ext cx="1905000" cy="476250"/>
              </a:xfrm>
              <a:prstGeom prst="roundRect">
                <a:avLst>
                  <a:gd fmla="val 50000" name="adj"/>
                </a:avLst>
              </a:prstGeom>
              <a:solidFill>
                <a:schemeClr val="bg1"/>
              </a:solidFill>
              <a:ln cap="flat" w="9525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  <a:effectLst>
                <a:outerShdw blurRad="50800" dir="2700000" dist="95250">
                  <a:srgbClr val="3f3f3f">
                    <a:alpha val="39999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47625" lIns="47625" rIns="571500" rtlCol="0" tIns="47625">
                <a:noAutofit/>
              </a:bodyPr>
              <a:lstStyle/>
              <a:p>
                <a:pPr algn="l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600">
                    <a:solidFill>
                      <a:schemeClr val="tx1"/>
                    </a:solidFill>
                    <a:latin typeface="Open Sans"/>
                  </a:rPr>
                  <a:t>Permutation Importance</a:t>
                </a:r>
                <a:endParaRPr b="1" dirty="0" lang="en-US" sz="600">
                  <a:solidFill>
                    <a:schemeClr val="tx1"/>
                  </a:solidFill>
                  <a:latin typeface="Open Sans"/>
                </a:endParaRPr>
              </a:p>
            </p:txBody>
          </p:sp>
          <p:sp>
            <p:nvSpPr>
              <p:cNvPr id="31" name="Oval  - Group Shape 11 ">
                <a:extLst>
                  <a:ext uri="{5EA2AB43-0111-4399-9B89-50653EEB54C4}">
                    <a16:creationId xmlns:a16="http://schemas.microsoft.com/office/drawing/2010/main" id="{EF57D131-C04E-408D-BEBD-5652C15E806E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true" flipV="false" rot="0">
                <a:off x="2476500" y="3629025"/>
                <a:ext cx="476250" cy="47625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  <a:gs pos="37885">
                    <a:schemeClr val="bg1"/>
                  </a:gs>
                </a:gsLst>
                <a:lin ang="2040000" scaled="0"/>
              </a:gradFill>
              <a:ln cap="flat" w="9525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rtlCol="0">
                <a:normAutofit fontScale="100000" lnSpcReduction="0"/>
              </a:bodyPr>
              <a:lstStyle/>
              <a:p>
                <a:pPr algn="ctr"/>
                <a:r>
                  <a:rPr b="1" dirty="0" lang="en-US" sz="1000">
                    <a:solidFill>
                      <a:schemeClr val="accent2">
                        <a:lumMod val="75000"/>
                      </a:schemeClr>
                    </a:solidFill>
                    <a:latin typeface="+mn-lt"/>
                  </a:rPr>
                  <a:t>4</a:t>
                </a:r>
                <a:endParaRPr b="1" dirty="0" lang="en-US" sz="1000">
                  <a:solidFill>
                    <a:schemeClr val="accent2">
                      <a:lumMod val="75000"/>
                    </a:schemeClr>
                  </a:solidFill>
                  <a:latin typeface="+mn-lt"/>
                </a:endParaRPr>
              </a:p>
            </p:txBody>
          </p:sp>
        </p:grpSp>
        <p:grpSp>
          <p:nvGrpSpPr>
            <p:cNvPr id="32" name="Group Shape 12">
              <a:extLst>
                <a:ext uri="{49CA0BDC-B461-44EB-90B8-0D5DB590BE36}">
                  <a16:creationId xmlns:a16="http://schemas.microsoft.com/office/drawing/2010/main" id="{1E305E32-23A1-422C-9A3D-9DA90CB1CC77}"/>
                </a:ext>
              </a:extLst>
            </p:cNvPr>
            <p:cNvGrpSpPr>
              <a:grpSpLocks noChangeAspect="true" noUngrp="true"/>
            </p:cNvGrpSpPr>
            <p:nvPr/>
          </p:nvGrpSpPr>
          <p:grpSpPr>
            <a:xfrm flipH="false" flipV="false" rot="0">
              <a:off x="1975652" y="2580593"/>
              <a:ext cx="2574053" cy="789833"/>
              <a:chOff x="1047750" y="1057275"/>
              <a:chExt cx="3498704" cy="1073559"/>
            </a:xfrm>
          </p:grpSpPr>
          <p:sp>
            <p:nvSpPr>
              <p:cNvPr id="33" name="Extract  - Cycle Diagram 3 ">
                <a:extLst>
                  <a:ext uri="{582865F7-25D5-465B-8191-9154892374BE}">
                    <a16:creationId xmlns:a16="http://schemas.microsoft.com/office/drawing/2010/main" id="{F5EA1AE4-79AD-4A0F-878F-DE961957255A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false" flipV="false" rot="3660000">
                <a:off x="3705225" y="1209036"/>
                <a:ext cx="123825" cy="123825"/>
              </a:xfrm>
              <a:prstGeom prst="flowChartExtract">
                <a:avLst/>
              </a:prstGeom>
              <a:solidFill>
                <a:schemeClr val="accent6"/>
              </a:solidFill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34" name="shape-EC89">
                <a:extLst>
                  <a:ext uri="{DF9FB58C-87D0-4D42-8097-DDA80E0F4615}">
                    <a16:creationId xmlns:a16="http://schemas.microsoft.com/office/drawing/2010/main" id="{DEDD05F5-F70D-4FAA-A397-491CF787DB4D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rot="0">
                <a:off x="3405309" y="1190632"/>
                <a:ext cx="1141145" cy="940202"/>
              </a:xfrm>
              <a:custGeom>
                <a:avLst/>
                <a:gdLst/>
                <a:ahLst/>
                <a:cxnLst/>
                <a:rect b="b" l="0" r="r" t="0"/>
                <a:pathLst>
                  <a:path h="492886" w="598227">
                    <a:moveTo>
                      <a:pt x="598227" y="0"/>
                    </a:moveTo>
                    <a:lnTo>
                      <a:pt x="598227" y="295195"/>
                    </a:lnTo>
                    <a:cubicBezTo>
                      <a:pt x="453575" y="299732"/>
                      <a:pt x="327418" y="377607"/>
                      <a:pt x="255704" y="492886"/>
                    </a:cubicBezTo>
                    <a:lnTo>
                      <a:pt x="0" y="345243"/>
                    </a:lnTo>
                    <a:cubicBezTo>
                      <a:pt x="122883" y="141727"/>
                      <a:pt x="344341" y="4640"/>
                      <a:pt x="598227" y="0"/>
                    </a:cubicBezTo>
                    <a:close/>
                  </a:path>
                </a:pathLst>
              </a:custGeom>
              <a:solidFill>
                <a:schemeClr val="accent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35" name="Rectangle  - Cycle Diagram 3 ">
                <a:extLst>
                  <a:ext uri="{10CC1184-D61B-4D88-A54D-537D7AD426B8}">
                    <a16:creationId xmlns:a16="http://schemas.microsoft.com/office/drawing/2010/main" id="{354CA604-724E-4369-B501-466C5ED39D78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true" flipV="false" rot="0">
                <a:off x="1047750" y="1057275"/>
                <a:ext cx="1905000" cy="476250"/>
              </a:xfrm>
              <a:prstGeom prst="roundRect">
                <a:avLst>
                  <a:gd fmla="val 50000" name="adj"/>
                </a:avLst>
              </a:prstGeom>
              <a:solidFill>
                <a:schemeClr val="bg1"/>
              </a:solidFill>
              <a:ln cap="flat" w="9525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  <a:effectLst>
                <a:outerShdw blurRad="50800" dir="2700000" dist="95250">
                  <a:srgbClr val="3f3f3f">
                    <a:alpha val="39999"/>
                  </a:srgbClr>
                </a:outerShdw>
              </a:effectLst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ctr" bIns="47625" lIns="47625" rIns="571500" rtlCol="0" tIns="47625">
                <a:normAutofit fontScale="25000" lnSpcReduction="20000"/>
              </a:bodyPr>
              <a:lstStyle/>
              <a:p>
                <a:pPr algn="l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b="1" dirty="0" lang="en-US" sz="2400">
                    <a:solidFill>
                      <a:schemeClr val="tx1"/>
                    </a:solidFill>
                    <a:latin typeface="Open Sans"/>
                  </a:rPr>
                  <a:t>Random Forest Feature Importance</a:t>
                </a:r>
                <a:endParaRPr b="1" dirty="0" lang="en-US" sz="2400">
                  <a:solidFill>
                    <a:schemeClr val="tx1"/>
                  </a:solidFill>
                  <a:latin typeface="Open Sans"/>
                </a:endParaRPr>
              </a:p>
            </p:txBody>
          </p:sp>
          <p:sp>
            <p:nvSpPr>
              <p:cNvPr id="36" name="Oval  - Group Shape 11 ">
                <a:extLst>
                  <a:ext uri="{82B857D2-6111-4F38-887F-DDF51558A625}">
                    <a16:creationId xmlns:a16="http://schemas.microsoft.com/office/drawing/2010/main" id="{7577A3A2-2C37-4134-883B-3485EF56ECE6}"/>
                  </a:ext>
                </a:extLst>
              </p:cNvPr>
              <p:cNvSpPr>
                <a:spLocks noChangeAspect="true" noMove="true" noResize="true" noRot="true" noSelect="true"/>
              </p:cNvSpPr>
              <p:nvPr/>
            </p:nvSpPr>
            <p:spPr>
              <a:xfrm flipH="true" flipV="false" rot="0">
                <a:off x="2476500" y="1057275"/>
                <a:ext cx="476250" cy="47625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lumMod val="95000"/>
                    </a:schemeClr>
                  </a:gs>
                  <a:gs pos="37885">
                    <a:schemeClr val="bg1"/>
                  </a:gs>
                </a:gsLst>
                <a:lin ang="2040000" scaled="0"/>
              </a:gradFill>
              <a:ln cap="flat" w="9525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  <a:effectLst/>
            </p:spPr>
            <p:style>
              <a:lnRef idx="1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rgbClr val="ffffff"/>
              </a:fontRef>
            </p:style>
            <p:txBody>
              <a:bodyPr anchor="t" rtlCol="0">
                <a:normAutofit fontScale="100000" lnSpcReduction="0"/>
              </a:bodyPr>
              <a:lstStyle/>
              <a:p>
                <a:pPr algn="ctr"/>
                <a:r>
                  <a:rPr b="1" dirty="0" lang="en-US" sz="1000">
                    <a:solidFill>
                      <a:schemeClr val="accent2">
                        <a:lumMod val="75000"/>
                      </a:schemeClr>
                    </a:solidFill>
                    <a:latin typeface="+mn-lt"/>
                  </a:rPr>
                  <a:t>6</a:t>
                </a:r>
                <a:endParaRPr b="1" dirty="0" lang="en-US" sz="1000">
                  <a:solidFill>
                    <a:schemeClr val="accent2">
                      <a:lumMod val="75000"/>
                    </a:schemeClr>
                  </a:solidFill>
                  <a:latin typeface="+mn-lt"/>
                </a:endParaRPr>
              </a:p>
            </p:txBody>
          </p:sp>
        </p:grpSp>
        <p:sp>
          <p:nvSpPr>
            <p:cNvPr id="37" name="Oval  - Cycle Diagram 3 ">
              <a:extLst>
                <a:ext uri="{8A339BF1-5F30-498D-B50A-DBC2DD0F0E24}">
                  <a16:creationId xmlns:a16="http://schemas.microsoft.com/office/drawing/2010/main" id="{5165ED79-3710-4492-BC91-BD18CA016E9A}"/>
                </a:ext>
              </a:extLst>
            </p:cNvPr>
            <p:cNvSpPr>
              <a:spLocks noChangeAspect="true"/>
            </p:cNvSpPr>
            <p:nvPr/>
          </p:nvSpPr>
          <p:spPr>
            <a:xfrm flipH="false" flipV="false" rot="0">
              <a:off x="3447269" y="2561939"/>
              <a:ext cx="2239057" cy="2239051"/>
            </a:xfrm>
            <a:prstGeom prst="ellipse">
              <a:avLst/>
            </a:prstGeom>
            <a:noFill/>
            <a:ln cap="flat" w="9525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p:spPr>
          <p:style>
            <a:lnRef idx="1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ffffff"/>
            </a:fontRef>
          </p:style>
          <p:txBody>
            <a:bodyPr anchor="ctr" rtlCol="0">
              <a:noAutofit/>
            </a:bodyPr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</p:grpSp>
    </p:spTree>
    <p:extLst>
      <p:ext uri="{579178C3-D222-4F2F-BDC9-F196AF08960C}">
        <p14:creationId xmlns:p14="http://schemas.microsoft.com/office/powerpoint/2010/main" val="1772739933407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1666A14D-3098-44A2-924A-DAAF67666FBE}">
                <a16:creationId xmlns:a16="http://schemas.microsoft.com/office/drawing/2010/main" id="{CB31EF34-4BE5-4F7E-9073-583EB14AA0A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Model Selection</a:t>
            </a:r>
            <a:endParaRPr dirty="0" lang="en-US">
              <a:latin typeface="Lato"/>
            </a:endParaRPr>
          </a:p>
        </p:txBody>
      </p:sp>
      <p:sp>
        <p:nvSpPr>
          <p:cNvPr id="3" name="Content Placeholder 2">
            <a:extLst>
              <a:ext uri="{F267777D-6CA6-43D7-906F-2A9F8C9967B3}">
                <a16:creationId xmlns:a16="http://schemas.microsoft.com/office/drawing/2010/main" id="{165D16AA-C290-416B-A6F6-075D0C910421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 sz="1200">
                <a:latin typeface="Lato"/>
              </a:rPr>
              <a:t>We applied multiple models—first simple ones to understand the data, and then stronger ensemble models to improve performance.</a:t>
            </a:r>
          </a:p>
          <a:p>
            <a:pPr/>
            <a:r>
              <a:rPr b="1" dirty="0" lang="en-US" sz="1200">
                <a:latin typeface="Lato"/>
              </a:rPr>
              <a:t>Evaluation Metrics:</a:t>
            </a:r>
            <a:r>
              <a:rPr dirty="0" lang="en-US" sz="1200">
                <a:latin typeface="Lato"/>
              </a:rPr>
              <a:t> Because of the extreme class imbalance, traditional "Accuracy" is a trap. We evaluated our models strictly on the </a:t>
            </a:r>
            <a:r>
              <a:rPr b="1" dirty="0" lang="en-US" sz="1200">
                <a:latin typeface="Lato"/>
              </a:rPr>
              <a:t>Recall</a:t>
            </a:r>
            <a:r>
              <a:rPr dirty="0" lang="en-US" sz="1200">
                <a:latin typeface="Lato"/>
              </a:rPr>
              <a:t>,  </a:t>
            </a:r>
            <a:r>
              <a:rPr b="1" dirty="0" lang="en-US" sz="1200">
                <a:latin typeface="Lato"/>
              </a:rPr>
              <a:t>F1-Score</a:t>
            </a:r>
            <a:r>
              <a:rPr dirty="0" lang="en-US" sz="1200">
                <a:latin typeface="Lato"/>
              </a:rPr>
              <a:t> and </a:t>
            </a:r>
            <a:r>
              <a:rPr b="1" dirty="0" lang="en-US" sz="1200">
                <a:latin typeface="Lato"/>
              </a:rPr>
              <a:t>ROU-AUC</a:t>
            </a:r>
            <a:r>
              <a:rPr dirty="0" lang="en-US" sz="1200">
                <a:latin typeface="Lato"/>
              </a:rPr>
              <a:t> (Precision-Recall Area Under the Curve).</a:t>
            </a:r>
            <a:endParaRPr dirty="0" lang="en-US" sz="1200">
              <a:latin typeface="Lato"/>
            </a:endParaRPr>
          </a:p>
        </p:txBody>
      </p:sp>
      <p:pic>
        <p:nvPicPr>
          <p:cNvPr id="4" name="Image 3">
            <a:extLst>
              <a:ext uri="{50DB1F2E-D2CF-43A2-A238-BA1645BA0B13}">
                <a16:creationId xmlns:a16="http://schemas.microsoft.com/office/drawing/2010/main" id="{6CB02AC6-6E9B-4AB3-BFC8-09137E0A5E02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1241307" y="2796492"/>
            <a:ext cx="2728379" cy="1963178"/>
          </a:xfrm>
          <a:prstGeom prst="rect">
            <a:avLst/>
          </a:prstGeom>
          <a:noFill/>
        </p:spPr>
      </p:pic>
      <p:sp>
        <p:nvSpPr>
          <p:cNvPr id="5" name="Rectangle 5">
            <a:extLst>
              <a:ext uri="{CC6E4194-ECCF-4CE5-AF7B-B73D671843F8}">
                <a16:creationId xmlns:a16="http://schemas.microsoft.com/office/drawing/2010/main" id="{D2A48689-CCBA-4F3C-8D6A-591D412D8588}"/>
              </a:ext>
            </a:extLst>
          </p:cNvPr>
          <p:cNvSpPr/>
          <p:nvPr/>
        </p:nvSpPr>
        <p:spPr>
          <a:xfrm flipH="false" flipV="false" rot="0">
            <a:off x="5193230" y="2508932"/>
            <a:ext cx="1965226" cy="1664855"/>
          </a:xfrm>
          <a:prstGeom prst="wedgeRoundRectCallout">
            <a:avLst>
              <a:gd fmla="val -45522" name="adj1"/>
              <a:gd fmla="val 72529" name="adj2"/>
              <a:gd fmla="val 16667" name="adj3"/>
            </a:avLst>
          </a:prstGeom>
          <a:noFill/>
          <a:ln cap="flat" w="9525">
            <a:solidFill>
              <a:schemeClr val="accent1">
                <a:shade val="95000"/>
                <a:satMod val="104999"/>
              </a:schemeClr>
            </a:solidFill>
            <a:prstDash val="solid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l"/>
            <a:r>
              <a:rPr b="1" dirty="0" lang="en-US" sz="1300">
                <a:solidFill>
                  <a:srgbClr val="002060"/>
                </a:solidFill>
                <a:latin typeface="Lato"/>
              </a:rPr>
              <a:t>Although </a:t>
            </a:r>
            <a:r>
              <a:rPr b="1" dirty="0" lang="en-US" sz="1300">
                <a:solidFill>
                  <a:srgbClr val="002060"/>
                </a:solidFill>
                <a:latin typeface="Lato"/>
              </a:rPr>
              <a:t>Ada-Boost</a:t>
            </a:r>
            <a:r>
              <a:rPr b="1" dirty="0" lang="en-US" sz="1300">
                <a:solidFill>
                  <a:srgbClr val="002060"/>
                </a:solidFill>
                <a:latin typeface="Lato"/>
              </a:rPr>
              <a:t> </a:t>
            </a:r>
            <a:r>
              <a:rPr b="1" dirty="0" lang="en-US" sz="1300">
                <a:solidFill>
                  <a:srgbClr val="002060"/>
                </a:solidFill>
                <a:latin typeface="Lato"/>
              </a:rPr>
              <a:t>had the highest recall, Gradient Boosting offered a better overall balance and was chosen as the final model.</a:t>
            </a:r>
            <a:endParaRPr b="1" dirty="0" lang="en-US" sz="1300">
              <a:solidFill>
                <a:srgbClr val="002060"/>
              </a:solidFill>
              <a:latin typeface="Lato"/>
            </a:endParaRPr>
          </a:p>
        </p:txBody>
      </p:sp>
      <p:pic>
        <p:nvPicPr>
          <p:cNvPr id="6" name="Image 6">
            <a:extLst>
              <a:ext uri="{CAD4DA3B-C61C-4EBB-99DE-D9A1C168F210}">
                <a16:creationId xmlns:a16="http://schemas.microsoft.com/office/drawing/2010/main" id="{B54CC8A8-8158-4413-AF7F-6EF822677FE4}"/>
              </a:ext>
            </a:extLst>
          </p:cNvPr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3901344" y="293589"/>
            <a:ext cx="1262538" cy="1262538"/>
          </a:xfrm>
          <a:prstGeom prst="rect">
            <a:avLst/>
          </a:prstGeom>
          <a:noFill/>
        </p:spPr>
      </p:pic>
      <p:sp>
        <p:nvSpPr>
          <p:cNvPr id="7" name="Arrow 8">
            <a:extLst>
              <a:ext uri="{9CA3778C-EC84-495E-BE22-EDE5634ED592}">
                <a16:creationId xmlns:a16="http://schemas.microsoft.com/office/drawing/2010/main" id="{D2F810C9-34BE-46F7-BA0E-5430033F053D}"/>
              </a:ext>
            </a:extLst>
          </p:cNvPr>
          <p:cNvSpPr/>
          <p:nvPr/>
        </p:nvSpPr>
        <p:spPr>
          <a:xfrm flipH="false" flipV="false" rot="10800000">
            <a:off x="4026617" y="3060620"/>
            <a:ext cx="426700" cy="440436"/>
          </a:xfrm>
          <a:prstGeom prst="bentArrow">
            <a:avLst/>
          </a:prstGeom>
          <a:solidFill>
            <a:schemeClr val="tx1"/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</p:spTree>
    <p:extLst>
      <p:ext uri="{CA3039FF-209D-4CF4-B704-7592CAAFB917}">
        <p14:creationId xmlns:p14="http://schemas.microsoft.com/office/powerpoint/2010/main" val="1772739933409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298479F-6805-439C-9E1C-26FF987168D2}">
                <a16:creationId xmlns:a16="http://schemas.microsoft.com/office/drawing/2010/main" id="{32B9D09C-E90A-4DEC-B575-57FA65D037C2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Lato"/>
              </a:rPr>
              <a:t>Hyperparameter Optimization</a:t>
            </a:r>
            <a:endParaRPr dirty="0" lang="en-US">
              <a:latin typeface="Lato"/>
            </a:endParaRPr>
          </a:p>
        </p:txBody>
      </p:sp>
      <p:sp>
        <p:nvSpPr>
          <p:cNvPr id="3" name="Content Placeholder 2">
            <a:extLst>
              <a:ext uri="{9283BD6C-605A-48AE-904C-250C72A7ACA0}">
                <a16:creationId xmlns:a16="http://schemas.microsoft.com/office/drawing/2010/main" id="{A8A6E71B-B36A-4856-A8EA-CFFC9B6C052F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algn="l"/>
            <a:r>
              <a:rPr dirty="0" lang="en-US" sz="1000">
                <a:latin typeface="Lato"/>
              </a:rPr>
              <a:t>We didn't just use the out-of-the-box settings. We aggressively tuned the model's parameters (using </a:t>
            </a:r>
            <a:r>
              <a:rPr b="1" dirty="0" lang="en-US" sz="1000">
                <a:latin typeface="Lato"/>
              </a:rPr>
              <a:t>StratifiedKFold</a:t>
            </a:r>
            <a:r>
              <a:rPr dirty="0" lang="en-US" sz="1000">
                <a:latin typeface="Lato"/>
              </a:rPr>
              <a:t> and </a:t>
            </a:r>
            <a:r>
              <a:rPr b="1" dirty="0" lang="en-US" sz="1000">
                <a:latin typeface="Lato"/>
              </a:rPr>
              <a:t>Grid Search</a:t>
            </a:r>
            <a:r>
              <a:rPr dirty="0" lang="en-US" sz="1000">
                <a:latin typeface="Lato"/>
              </a:rPr>
              <a:t>) to maximize its ability to generalize to unseen fraud tactics without </a:t>
            </a:r>
            <a:r>
              <a:rPr dirty="0" lang="en-US" sz="1000">
                <a:latin typeface="Lato"/>
              </a:rPr>
              <a:t>overfitting</a:t>
            </a:r>
            <a:r>
              <a:rPr dirty="0" lang="en-US" sz="1000">
                <a:latin typeface="Lato"/>
              </a:rPr>
              <a:t> the training data.</a:t>
            </a:r>
          </a:p>
          <a:p>
            <a:pPr algn="l"/>
            <a:r>
              <a:rPr dirty="0" lang="en-US" sz="1000">
                <a:latin typeface="Lato"/>
              </a:rPr>
              <a:t> We applied advanced sampling techniques (like </a:t>
            </a:r>
            <a:r>
              <a:rPr b="1" dirty="0" lang="en-US" sz="1000">
                <a:latin typeface="Lato"/>
              </a:rPr>
              <a:t>SMOTE</a:t>
            </a:r>
            <a:r>
              <a:rPr dirty="0" lang="en-US" sz="1000">
                <a:latin typeface="Lato"/>
              </a:rPr>
              <a:t> or class weighting) to force the algorithm to learn the complex patterns of the minority class.</a:t>
            </a:r>
          </a:p>
          <a:p>
            <a:pPr algn="l"/>
            <a:r>
              <a:rPr dirty="0" lang="en-US" sz="1000">
                <a:latin typeface="Lato"/>
              </a:rPr>
              <a:t>After performing </a:t>
            </a:r>
            <a:r>
              <a:rPr dirty="0" lang="en-US" sz="1000">
                <a:latin typeface="Lato"/>
              </a:rPr>
              <a:t>hyperparameter</a:t>
            </a:r>
            <a:r>
              <a:rPr dirty="0" lang="en-US" sz="1000">
                <a:latin typeface="Lato"/>
              </a:rPr>
              <a:t> tuning on the </a:t>
            </a:r>
            <a:r>
              <a:rPr b="1" dirty="0" lang="en-US" sz="1000">
                <a:latin typeface="Lato"/>
              </a:rPr>
              <a:t>Gradient Boosting model</a:t>
            </a:r>
            <a:r>
              <a:rPr dirty="0" lang="en-US" sz="1000">
                <a:latin typeface="Lato"/>
              </a:rPr>
              <a:t>, the optimal set of parameters obtained were a learning rate of </a:t>
            </a:r>
            <a:r>
              <a:rPr b="1" dirty="0" lang="en-US" sz="1000">
                <a:latin typeface="Lato"/>
              </a:rPr>
              <a:t>0.01</a:t>
            </a:r>
            <a:r>
              <a:rPr dirty="0" lang="en-US" sz="1000">
                <a:latin typeface="Lato"/>
              </a:rPr>
              <a:t>, maximum tree depth of </a:t>
            </a:r>
            <a:r>
              <a:rPr b="1" dirty="0" lang="en-US" sz="1000">
                <a:latin typeface="Lato"/>
              </a:rPr>
              <a:t>3</a:t>
            </a:r>
            <a:r>
              <a:rPr dirty="0" lang="en-US" sz="1000">
                <a:latin typeface="Lato"/>
              </a:rPr>
              <a:t>, minimum samples required to split a node of </a:t>
            </a:r>
            <a:r>
              <a:rPr b="1" dirty="0" lang="en-US" sz="1000">
                <a:latin typeface="Lato"/>
              </a:rPr>
              <a:t>2</a:t>
            </a:r>
            <a:r>
              <a:rPr dirty="0" lang="en-US" sz="1000">
                <a:latin typeface="Lato"/>
              </a:rPr>
              <a:t>, minimum samples required at a leaf node of </a:t>
            </a:r>
            <a:r>
              <a:rPr b="1" dirty="0" lang="en-US" sz="1000">
                <a:latin typeface="Lato"/>
              </a:rPr>
              <a:t>1</a:t>
            </a:r>
            <a:r>
              <a:rPr dirty="0" lang="en-US" sz="1000">
                <a:latin typeface="Lato"/>
              </a:rPr>
              <a:t>, and </a:t>
            </a:r>
            <a:r>
              <a:rPr b="1" dirty="0" lang="en-US" sz="1000">
                <a:latin typeface="Lato"/>
              </a:rPr>
              <a:t>200 estimators</a:t>
            </a:r>
            <a:r>
              <a:rPr dirty="0" lang="en-US" sz="1000">
                <a:latin typeface="Lato"/>
              </a:rPr>
              <a:t>.</a:t>
            </a:r>
          </a:p>
          <a:p>
            <a:pPr algn="l"/>
            <a:r>
              <a:rPr dirty="0" lang="en-US" sz="1000">
                <a:latin typeface="Lato"/>
              </a:rPr>
              <a:t>To ensure a structured and reproducible workflow, the entire modeling process was implemented using a </a:t>
            </a:r>
            <a:r>
              <a:rPr b="1" dirty="0" lang="en-US" sz="1000">
                <a:latin typeface="Lato"/>
              </a:rPr>
              <a:t>machine learning pipeline</a:t>
            </a:r>
            <a:r>
              <a:rPr dirty="0" lang="en-US" sz="1000">
                <a:latin typeface="Lato"/>
              </a:rPr>
              <a:t>. The pipeline integrates multiple stages of the model development process into a single workflow, including </a:t>
            </a:r>
            <a:r>
              <a:rPr b="1" dirty="0" lang="en-US" sz="1000">
                <a:latin typeface="Lato"/>
              </a:rPr>
              <a:t>data preprocessing, class imbalance handling, and model training</a:t>
            </a:r>
            <a:r>
              <a:rPr dirty="0" lang="en-US" sz="1000">
                <a:latin typeface="Lato"/>
              </a:rPr>
              <a:t>.</a:t>
            </a:r>
            <a:endParaRPr dirty="0" lang="en-US" sz="1000">
              <a:latin typeface="Lato"/>
            </a:endParaRPr>
          </a:p>
        </p:txBody>
      </p:sp>
      <p:grpSp>
        <p:nvGrpSpPr>
          <p:cNvPr id="4" name="Group Shape 5">
            <a:extLst>
              <a:ext uri="{1D570B2B-0762-4C4A-B0E6-8196EE6E4D02}">
                <a16:creationId xmlns:a16="http://schemas.microsoft.com/office/drawing/2010/main" id="{AA8088D9-25B9-4A6A-8F08-DA2C7C306771}"/>
              </a:ext>
            </a:extLst>
          </p:cNvPr>
          <p:cNvGrpSpPr>
            <a:grpSpLocks noChangeAspect="true"/>
          </p:cNvGrpSpPr>
          <p:nvPr/>
        </p:nvGrpSpPr>
        <p:grpSpPr>
          <a:xfrm flipH="false" flipV="false" rot="0">
            <a:off x="6214624" y="3481940"/>
            <a:ext cx="2167375" cy="1252985"/>
            <a:chOff x="5681653" y="2906830"/>
            <a:chExt cx="2167375" cy="1252985"/>
          </a:xfrm>
        </p:grpSpPr>
        <p:sp>
          <p:nvSpPr>
            <p:cNvPr id="5" name="Rectangle 3">
              <a:extLst>
                <a:ext uri="{98D4EE24-3924-438A-8D43-1E0B76A17DCF}">
                  <a16:creationId xmlns:a16="http://schemas.microsoft.com/office/drawing/2010/main" id="{51651391-A3E4-4D2E-848E-E7254145A7AE}"/>
                </a:ext>
              </a:extLst>
            </p:cNvPr>
            <p:cNvSpPr/>
            <p:nvPr/>
          </p:nvSpPr>
          <p:spPr>
            <a:xfrm flipH="false" flipV="false" rot="0">
              <a:off x="5681653" y="2906830"/>
              <a:ext cx="2167375" cy="1252985"/>
            </a:xfrm>
            <a:prstGeom prst="roundRect">
              <a:avLst/>
            </a:prstGeom>
            <a:noFill/>
            <a:ln cap="flat" w="9525">
              <a:solidFill>
                <a:schemeClr val="accent1">
                  <a:shade val="95000"/>
                  <a:satMod val="104999"/>
                </a:schemeClr>
              </a:solidFill>
              <a:prstDash val="solid"/>
              <a:miter lim="800000"/>
            </a:ln>
            <a:effectLst/>
          </p:spPr>
          <p:style>
            <a:lnRef idx="1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rgbClr val="ffffff"/>
            </a:fontRef>
          </p:style>
          <p:txBody>
            <a:bodyPr anchor="ctr" rtlCol="0">
              <a:noAutofit/>
            </a:bodyPr>
            <a:lstStyle/>
            <a:p>
              <a:pPr algn="ctr"/>
              <a:r>
                <a:rPr dirty="0" lang="en-US"/>
                <a:t/>
              </a:r>
              <a:endParaRPr dirty="0" lang="en-US"/>
            </a:p>
          </p:txBody>
        </p:sp>
        <p:sp>
          <p:nvSpPr>
            <p:cNvPr id="6" name="Text Box 4">
              <a:extLst>
                <a:ext uri="{87805FCE-E545-4AB6-BA1B-AF4029301144}">
                  <a16:creationId xmlns:a16="http://schemas.microsoft.com/office/drawing/2010/main" id="{7BD46C03-91CD-4583-AF93-EEE4549ED4DA}"/>
                </a:ext>
              </a:extLst>
            </p:cNvPr>
            <p:cNvSpPr txBox="1"/>
            <p:nvPr/>
          </p:nvSpPr>
          <p:spPr>
            <a:xfrm flipH="false" flipV="false" rot="0">
              <a:off x="5724115" y="3160556"/>
              <a:ext cx="2091718" cy="857059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0"/>
            </a:gradFill>
            <a:ln cap="flat" w="9525">
              <a:noFill/>
              <a:prstDash val="solid"/>
              <a:miter lim="800000"/>
            </a:ln>
          </p:spPr>
          <p:txBody>
            <a:bodyPr anchor="t" bIns="47625" lIns="95250" rIns="95250" rtlCol="0" tIns="47625">
              <a:spAutoFit/>
            </a:bodyPr>
            <a:lstStyle/>
            <a:p>
              <a:pPr>
                <a:defRPr dirty="0" lang="en-US" sz="1400"/>
              </a:pPr>
              <a:r>
                <a:rPr b="1" dirty="0" lang="en-US" sz="1000">
                  <a:latin typeface="Lato"/>
                </a:rPr>
                <a:t>  </a:t>
              </a:r>
              <a:r>
                <a:rPr b="1" dirty="0" lang="en-US" sz="1000">
                  <a:latin typeface="Lato"/>
                </a:rPr>
                <a:t>'classifier__learning_rate': 0.01,</a:t>
              </a:r>
              <a:br>
                <a:rPr b="1" dirty="0" lang="en-US" sz="1000">
                  <a:latin typeface="Lato"/>
                </a:rPr>
              </a:br>
              <a:r>
                <a:rPr b="1" dirty="0" lang="en-US" sz="1000">
                  <a:latin typeface="Lato"/>
                </a:rPr>
                <a:t>  'classifier__max_depth': 3,</a:t>
              </a:r>
              <a:br>
                <a:rPr b="1" dirty="0" lang="en-US" sz="1000">
                  <a:latin typeface="Lato"/>
                </a:rPr>
              </a:br>
              <a:r>
                <a:rPr b="1" dirty="0" lang="en-US" sz="1000">
                  <a:latin typeface="Lato"/>
                </a:rPr>
                <a:t>  'classifier__min_samples_leaf': 1,</a:t>
              </a:r>
              <a:br>
                <a:rPr b="1" dirty="0" lang="en-US" sz="1000">
                  <a:latin typeface="Lato"/>
                </a:rPr>
              </a:br>
              <a:r>
                <a:rPr b="1" dirty="0" lang="en-US" sz="1000">
                  <a:latin typeface="Lato"/>
                </a:rPr>
                <a:t>  'classifier__min_samples_split': 2,</a:t>
              </a:r>
              <a:br>
                <a:rPr b="1" dirty="0" lang="en-US" sz="1000">
                  <a:latin typeface="Lato"/>
                </a:rPr>
              </a:br>
              <a:r>
                <a:rPr b="1" dirty="0" lang="en-US" sz="1000">
                  <a:latin typeface="Lato"/>
                </a:rPr>
                <a:t>  'classifier__n_estimators': 200</a:t>
              </a:r>
              <a:endParaRPr b="1" dirty="0" lang="en-US" sz="1000">
                <a:latin typeface="Lato"/>
              </a:endParaRPr>
            </a:p>
          </p:txBody>
        </p:sp>
      </p:grpSp>
      <p:pic>
        <p:nvPicPr>
          <p:cNvPr id="7" name="Image 4">
            <a:extLst>
              <a:ext uri="{140BF09F-652A-4851-8E21-657BB93B83B1}">
                <a16:creationId xmlns:a16="http://schemas.microsoft.com/office/drawing/2010/main" id="{78C9E3C3-D221-4E64-B2AC-0C95B329DB86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762000" y="4044372"/>
            <a:ext cx="690553" cy="690553"/>
          </a:xfrm>
          <a:prstGeom prst="rect">
            <a:avLst/>
          </a:prstGeom>
          <a:noFill/>
        </p:spPr>
      </p:pic>
      <p:sp>
        <p:nvSpPr>
          <p:cNvPr id="8" name="Text Box 6">
            <a:extLst>
              <a:ext uri="{E736C3F5-1327-420F-AD00-FB4C9ADC4889}">
                <a16:creationId xmlns:a16="http://schemas.microsoft.com/office/drawing/2010/main" id="{2DCC9CDA-A78B-4BA4-A879-E36263EEA803}"/>
              </a:ext>
            </a:extLst>
          </p:cNvPr>
          <p:cNvSpPr txBox="1"/>
          <p:nvPr/>
        </p:nvSpPr>
        <p:spPr>
          <a:xfrm flipH="false" flipV="false" rot="0">
            <a:off x="6660699" y="3456327"/>
            <a:ext cx="1284503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 u="sng">
                <a:latin typeface="Consolas"/>
              </a:rPr>
              <a:t>Best Params</a:t>
            </a:r>
            <a:endParaRPr dirty="0" lang="en-US" u="sng">
              <a:latin typeface="Consolas"/>
            </a:endParaRPr>
          </a:p>
        </p:txBody>
      </p:sp>
    </p:spTree>
    <p:extLst>
      <p:ext uri="{BCDFB677-77C8-43CF-9B17-95B4977FC2B5}">
        <p14:creationId xmlns:p14="http://schemas.microsoft.com/office/powerpoint/2010/main" val="1772739933410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76FFD604-0989-4F9A-8429-6A15775AF20D}">
                <a16:creationId xmlns:a16="http://schemas.microsoft.com/office/drawing/2010/main" id="{AB645DB6-C47B-4F1A-B859-39AF864C468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Confusion Matrix</a:t>
            </a:r>
            <a:endParaRPr dirty="0" lang="en-US"/>
          </a:p>
        </p:txBody>
      </p:sp>
      <p:sp>
        <p:nvSpPr>
          <p:cNvPr hidden="false" id="3" name="Content Placeholder 2">
            <a:extLst>
              <a:ext uri="{F4E2AA29-7F54-4F0B-8A87-0D83769DAD2C}">
                <a16:creationId xmlns:a16="http://schemas.microsoft.com/office/drawing/2010/main" id="{AA21BAD7-D3BA-4B10-8568-D200BAD3DC13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 sz="900">
                <a:latin typeface="Lato"/>
              </a:rPr>
              <a:t>To better understand the model’s performance, a </a:t>
            </a:r>
            <a:r>
              <a:rPr b="1" dirty="0" lang="en-US" sz="900">
                <a:latin typeface="Lato"/>
              </a:rPr>
              <a:t>confusion matrix</a:t>
            </a:r>
            <a:r>
              <a:rPr dirty="0" lang="en-US" sz="900">
                <a:latin typeface="Lato"/>
              </a:rPr>
              <a:t> was constructed. The confusion matrix helps break down the model’s predictions into four categories: </a:t>
            </a:r>
            <a:r>
              <a:rPr b="1" dirty="0" lang="en-US" sz="900">
                <a:latin typeface="Lato"/>
              </a:rPr>
              <a:t>True Positives, True Negatives, False Positives, and False Negatives</a:t>
            </a:r>
            <a:r>
              <a:rPr dirty="0" lang="en-US" sz="900">
                <a:latin typeface="Lato"/>
              </a:rPr>
              <a:t>. This provides a more detailed view of how the model is performing beyond overall accuracy.</a:t>
            </a:r>
            <a:endParaRPr dirty="0" lang="en-US" sz="900">
              <a:latin typeface="Lato"/>
            </a:endParaRPr>
          </a:p>
        </p:txBody>
      </p:sp>
      <p:graphicFrame>
        <p:nvGraphicFramePr>
          <p:cNvPr id="4" name="Table 3">
            <a:extLst>
              <a:ext uri="{B472EDBC-C357-446E-B517-DBB56F673371}">
                <a16:creationId xmlns:a16="http://schemas.microsoft.com/office/drawing/2010/main" id="{DE4351C1-6385-428F-A8F4-4B67F9E8C308}"/>
              </a:ext>
            </a:extLst>
          </p:cNvPr>
          <p:cNvGraphicFramePr/>
          <p:nvPr/>
        </p:nvGraphicFramePr>
        <p:xfrm rot="0">
          <a:off x="1693230" y="2517067"/>
          <a:ext cx="2583846" cy="1452600"/>
        </p:xfrm>
        <a:graphic>
          <a:graphicData uri="http://schemas.openxmlformats.org/drawingml/2006/table">
            <a:tbl>
              <a:tblPr firstRow="1">
                <a:tableStyleId>{69FC7C8A-B2E3-4495-BCF1-C7CE0A01A532}</a:tableStyleId>
              </a:tblPr>
              <a:tblGrid>
                <a:gridCol w="1291923"/>
                <a:gridCol w="1291923"/>
              </a:tblGrid>
              <a:tr h="726300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 sz="1000"/>
                        <a:t>True Positive</a:t>
                      </a:r>
                      <a:endParaRPr dirty="0" lang="en-US" sz="1000"/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dirty="0" lang="en-US" sz="1000"/>
                        <a:t>False Negative</a:t>
                      </a:r>
                    </a:p>
                    <a:p>
                      <a:pPr/>
                      <a:r>
                        <a:rPr dirty="0" lang="en-US" sz="1400"/>
                        <a:t/>
                      </a:r>
                    </a:p>
                    <a:p>
                      <a:pPr/>
                      <a:r>
                        <a:rPr dirty="0" lang="en-US" sz="1000">
                          <a:solidFill>
                            <a:srgbClr val="ff0000"/>
                          </a:solidFill>
                        </a:rPr>
                        <a:t>Type II Error</a:t>
                      </a:r>
                      <a:endParaRPr dirty="0" 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726300"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b="1" dirty="0" lang="en-US" sz="1000">
                          <a:latin typeface="+mn-lt"/>
                        </a:rPr>
                        <a:t>False Positive</a:t>
                      </a:r>
                    </a:p>
                    <a:p>
                      <a:pPr/>
                      <a:r>
                        <a:rPr b="1" dirty="0" lang="en-US" sz="1400">
                          <a:latin typeface="+mn-lt"/>
                        </a:rPr>
                        <a:t/>
                      </a:r>
                    </a:p>
                    <a:p>
                      <a:pPr/>
                      <a:r>
                        <a:rPr b="1" dirty="0" lang="en-US" sz="1000">
                          <a:solidFill>
                            <a:srgbClr val="ff0000"/>
                          </a:solidFill>
                          <a:latin typeface="+mn-lt"/>
                        </a:rPr>
                        <a:t>Type I Error</a:t>
                      </a:r>
                      <a:endParaRPr b="1" dirty="0" lang="en-US" sz="100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 bIns="47625" lIns="95250" rIns="95250" rtlCol="0" tIns="47625"/>
                    <a:lstStyle/>
                    <a:p>
                      <a:pPr/>
                      <a:r>
                        <a:rPr b="1" dirty="0" lang="en-US" sz="1000">
                          <a:latin typeface="+mn-lt"/>
                        </a:rPr>
                        <a:t>True Negative</a:t>
                      </a:r>
                      <a:endParaRPr b="1" dirty="0" lang="en-US" sz="1000"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>
            <a:extLst>
              <a:ext uri="{7180E436-70AF-4DB2-8524-ADA022F3CBA1}">
                <a16:creationId xmlns:a16="http://schemas.microsoft.com/office/drawing/2010/main" id="{8B1A1A0F-F53C-4FB3-B22E-9664375FC698}"/>
              </a:ext>
            </a:extLst>
          </p:cNvPr>
          <p:cNvSpPr txBox="1"/>
          <p:nvPr/>
        </p:nvSpPr>
        <p:spPr>
          <a:xfrm flipH="false" flipV="false" rot="0">
            <a:off x="1866052" y="2219572"/>
            <a:ext cx="946642" cy="217141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 sz="800" u="none"/>
              <a:t>Predict Spam</a:t>
            </a:r>
            <a:endParaRPr dirty="0" lang="en-US" sz="800" u="none"/>
          </a:p>
        </p:txBody>
      </p:sp>
      <p:sp>
        <p:nvSpPr>
          <p:cNvPr id="6" name="Text Box 5">
            <a:extLst>
              <a:ext uri="{81564ED9-5BA7-4ABF-B7E9-A99147ECFA40}">
                <a16:creationId xmlns:a16="http://schemas.microsoft.com/office/drawing/2010/main" id="{98188F9E-7F75-45AD-925C-7B6C0028BCCD}"/>
              </a:ext>
            </a:extLst>
          </p:cNvPr>
          <p:cNvSpPr txBox="1"/>
          <p:nvPr/>
        </p:nvSpPr>
        <p:spPr>
          <a:xfrm flipH="false" flipV="false" rot="0">
            <a:off x="3064754" y="2219572"/>
            <a:ext cx="1374552" cy="217141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 sz="800" u="none"/>
              <a:t>Predict Not Spam</a:t>
            </a:r>
            <a:endParaRPr dirty="0" lang="en-US" sz="800" u="none"/>
          </a:p>
        </p:txBody>
      </p:sp>
      <p:sp>
        <p:nvSpPr>
          <p:cNvPr id="7" name="Text Box 8">
            <a:extLst>
              <a:ext uri="{D4288C42-1224-4444-8687-31C09EFF4E5C}">
                <a16:creationId xmlns:a16="http://schemas.microsoft.com/office/drawing/2010/main" id="{67C6588C-2C9D-4337-8373-B7FDB0488C59}"/>
              </a:ext>
            </a:extLst>
          </p:cNvPr>
          <p:cNvSpPr txBox="1"/>
          <p:nvPr/>
        </p:nvSpPr>
        <p:spPr>
          <a:xfrm flipH="false" flipV="false" rot="0">
            <a:off x="762000" y="3388337"/>
            <a:ext cx="1072724" cy="217141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 sz="800" u="none"/>
              <a:t>Actual</a:t>
            </a:r>
            <a:r>
              <a:rPr dirty="0" lang="en-US" sz="800" u="none"/>
              <a:t> Not Spam</a:t>
            </a:r>
            <a:endParaRPr dirty="0" lang="en-US" sz="800" u="none"/>
          </a:p>
        </p:txBody>
      </p:sp>
      <p:sp>
        <p:nvSpPr>
          <p:cNvPr id="8" name="Text Box 9">
            <a:extLst>
              <a:ext uri="{DDE2EB74-D17F-4390-A75D-F2AFB73EB698}">
                <a16:creationId xmlns:a16="http://schemas.microsoft.com/office/drawing/2010/main" id="{36C87905-6E1E-4F27-B76E-5D50909893C8}"/>
              </a:ext>
            </a:extLst>
          </p:cNvPr>
          <p:cNvSpPr txBox="1"/>
          <p:nvPr/>
        </p:nvSpPr>
        <p:spPr>
          <a:xfrm flipH="false" flipV="false" rot="0">
            <a:off x="938498" y="2749781"/>
            <a:ext cx="918562" cy="217141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 sz="800" u="none"/>
              <a:t>Actual</a:t>
            </a:r>
            <a:r>
              <a:rPr dirty="0" lang="en-US" sz="800" u="none"/>
              <a:t> Spam</a:t>
            </a:r>
            <a:endParaRPr dirty="0" lang="en-US" sz="800" u="none"/>
          </a:p>
        </p:txBody>
      </p:sp>
      <p:sp>
        <p:nvSpPr>
          <p:cNvPr id="9" name="Text Box 10">
            <a:extLst>
              <a:ext uri="{D5F4EA52-2D51-4CAE-AB18-FA4963F76FAC}">
                <a16:creationId xmlns:a16="http://schemas.microsoft.com/office/drawing/2010/main" id="{117E6CBB-E7FB-4080-905D-CBC277E0CDFA}"/>
              </a:ext>
            </a:extLst>
          </p:cNvPr>
          <p:cNvSpPr txBox="1"/>
          <p:nvPr/>
        </p:nvSpPr>
        <p:spPr>
          <a:xfrm flipH="false" flipV="false" rot="0">
            <a:off x="4947590" y="2116312"/>
            <a:ext cx="1617964" cy="1984533"/>
          </a:xfrm>
          <a:prstGeom prst="rect">
            <a:avLst/>
          </a:prstGeom>
          <a:noFill/>
          <a:ln cap="flat" w="14288">
            <a:solidFill>
              <a:schemeClr val="tx1"/>
            </a:solidFill>
            <a:prstDash val="solid"/>
            <a:miter lim="800000"/>
          </a:ln>
        </p:spPr>
        <p:txBody>
          <a:bodyPr anchor="t" bIns="47625" lIns="95250" rIns="95250" rtlCol="0" tIns="47625">
            <a:spAutoFit/>
          </a:bodyPr>
          <a:lstStyle/>
          <a:p>
            <a:pPr algn="ctr" indent="0" marL="0">
              <a:buNone/>
              <a:defRPr dirty="0" lang="en-US" sz="1400"/>
            </a:pPr>
            <a:r>
              <a:rPr dirty="0" lang="en-US" sz="1000" u="sng"/>
              <a:t>   </a:t>
            </a:r>
            <a:r>
              <a:rPr dirty="0" lang="en-US" sz="1000" u="sng"/>
              <a:t>Case 1</a:t>
            </a:r>
            <a:r>
              <a:rPr dirty="0" lang="en-US" sz="1000" u="sng"/>
              <a:t>: </a:t>
            </a:r>
            <a:r>
              <a:rPr dirty="0" lang="en-US" sz="1000" u="sng"/>
              <a:t>Missing </a:t>
            </a:r>
            <a:r>
              <a:rPr dirty="0" err="1" lang="en-US" sz="1000" u="sng"/>
              <a:t>Fraud</a:t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algn="ctr" indent="0" marL="0">
              <a:buNone/>
              <a:defRPr dirty="0" lang="en-US" sz="1400"/>
            </a:pPr>
            <a:r>
              <a:rPr dirty="0" lang="en-US" sz="1000"/>
              <a:t>Customer loses money            </a:t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algn="ctr" indent="0" marL="0">
              <a:buNone/>
              <a:defRPr dirty="0" lang="en-US" sz="1400"/>
            </a:pPr>
            <a:r>
              <a:rPr dirty="0" lang="en-US" sz="1000"/>
              <a:t>Bank Refunds            </a:t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algn="ctr" indent="0" marL="0">
              <a:buNone/>
              <a:defRPr dirty="0" lang="en-US" sz="1400"/>
            </a:pPr>
            <a:r>
              <a:rPr dirty="0" lang="en-US" sz="1000"/>
              <a:t>Reputation </a:t>
            </a:r>
            <a:r>
              <a:rPr dirty="0" err="1" lang="en-US" sz="1000"/>
              <a:t>Damage</a:t>
            </a:r>
            <a:r>
              <a:rPr dirty="0" lang="en-US" sz="1000"/>
              <a:t>  </a:t>
            </a:r>
          </a:p>
          <a:p>
            <a:pPr indent="0" lvl="1" marL="457200">
              <a:buNone/>
              <a:defRPr dirty="0" lang="en-US" sz="1400"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10" name="Arrow 11">
            <a:extLst>
              <a:ext uri="{37FD22F2-A059-43F4-9E80-432066B8F198}">
                <a16:creationId xmlns:a16="http://schemas.microsoft.com/office/drawing/2010/main" id="{C0035CD3-4879-41AA-9961-C0F85E30D46B}"/>
              </a:ext>
            </a:extLst>
          </p:cNvPr>
          <p:cNvSpPr/>
          <p:nvPr/>
        </p:nvSpPr>
        <p:spPr>
          <a:xfrm flipH="false" flipV="false" rot="0">
            <a:off x="5707580" y="2707224"/>
            <a:ext cx="156581" cy="262547"/>
          </a:xfrm>
          <a:prstGeom prst="downArrow">
            <a:avLst/>
          </a:prstGeom>
          <a:solidFill>
            <a:schemeClr val="tx1"/>
          </a:solidFill>
          <a:ln>
            <a:noFill/>
            <a:prstDash val="solid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1" name="Arrow 12">
            <a:extLst>
              <a:ext uri="{DF8BC107-634D-4272-94B2-BE1CEBF0ACA6}">
                <a16:creationId xmlns:a16="http://schemas.microsoft.com/office/drawing/2010/main" id="{9113E657-CE6C-4B34-B83A-1ABDC6CF8096}"/>
              </a:ext>
            </a:extLst>
          </p:cNvPr>
          <p:cNvSpPr/>
          <p:nvPr/>
        </p:nvSpPr>
        <p:spPr>
          <a:xfrm flipH="false" flipV="false" rot="0">
            <a:off x="5707580" y="3404035"/>
            <a:ext cx="156581" cy="262547"/>
          </a:xfrm>
          <a:prstGeom prst="downArrow">
            <a:avLst/>
          </a:prstGeom>
          <a:solidFill>
            <a:schemeClr val="tx1"/>
          </a:solidFill>
          <a:ln>
            <a:noFill/>
            <a:prstDash val="solid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2" name="Arrow 13">
            <a:extLst>
              <a:ext uri="{74412752-4C24-4FF1-B97D-B0F3E26192A8}">
                <a16:creationId xmlns:a16="http://schemas.microsoft.com/office/drawing/2010/main" id="{54778A67-3D7A-4E23-ACBC-0B6D1009A2EC}"/>
              </a:ext>
            </a:extLst>
          </p:cNvPr>
          <p:cNvSpPr/>
          <p:nvPr/>
        </p:nvSpPr>
        <p:spPr>
          <a:xfrm flipH="false" flipV="false" rot="0">
            <a:off x="5214375" y="4100274"/>
            <a:ext cx="1143000" cy="523875"/>
          </a:xfrm>
          <a:prstGeom prst="upArrowCallout">
            <a:avLst/>
          </a:prstGeom>
          <a:noFill/>
          <a:ln cap="flat" w="9525">
            <a:solidFill>
              <a:schemeClr val="accent1">
                <a:shade val="95000"/>
                <a:satMod val="104999"/>
              </a:schemeClr>
            </a:solidFill>
            <a:prstDash val="dash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3" name="Text Box 14">
            <a:extLst>
              <a:ext uri="{D559EAA9-D581-4A29-AB3C-6E4467ED24CE}">
                <a16:creationId xmlns:a16="http://schemas.microsoft.com/office/drawing/2010/main" id="{28344214-1575-4265-9D4A-C134BD57B4D5}"/>
              </a:ext>
            </a:extLst>
          </p:cNvPr>
          <p:cNvSpPr txBox="1"/>
          <p:nvPr/>
        </p:nvSpPr>
        <p:spPr>
          <a:xfrm flipH="false" flipV="false" rot="0">
            <a:off x="5214375" y="4286135"/>
            <a:ext cx="1143000" cy="27808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algn="ctr">
              <a:defRPr dirty="0" lang="en-US" sz="1400"/>
            </a:pPr>
            <a:r>
              <a:rPr b="1" dirty="0" lang="en-US" sz="1200">
                <a:solidFill>
                  <a:srgbClr val="ff0000"/>
                </a:solidFill>
                <a:latin typeface="Open Sans"/>
              </a:rPr>
              <a:t>Type II Error</a:t>
            </a:r>
            <a:endParaRPr b="1" dirty="0" lang="en-US" sz="1200">
              <a:solidFill>
                <a:srgbClr val="ff0000"/>
              </a:solidFill>
              <a:latin typeface="Open Sans"/>
            </a:endParaRPr>
          </a:p>
        </p:txBody>
      </p:sp>
      <p:sp>
        <p:nvSpPr>
          <p:cNvPr id="14" name="Text Box 15">
            <a:extLst>
              <a:ext uri="{58D45EAB-AA9E-4D72-AD43-4B3C870D37ED}">
                <a16:creationId xmlns:a16="http://schemas.microsoft.com/office/drawing/2010/main" id="{D319B770-2B3D-4CF7-B728-485475FA77E6}"/>
              </a:ext>
            </a:extLst>
          </p:cNvPr>
          <p:cNvSpPr txBox="1"/>
          <p:nvPr/>
        </p:nvSpPr>
        <p:spPr>
          <a:xfrm flipH="false" flipV="false" rot="0">
            <a:off x="6742052" y="2107034"/>
            <a:ext cx="1617964" cy="1984533"/>
          </a:xfrm>
          <a:prstGeom prst="rect">
            <a:avLst/>
          </a:prstGeom>
          <a:noFill/>
          <a:ln cap="flat" w="14288">
            <a:solidFill>
              <a:schemeClr val="tx1"/>
            </a:solidFill>
            <a:prstDash val="solid"/>
            <a:miter lim="800000"/>
          </a:ln>
        </p:spPr>
        <p:txBody>
          <a:bodyPr anchor="t" bIns="47625" lIns="95250" rIns="95250" rtlCol="0" tIns="47625">
            <a:spAutoFit/>
          </a:bodyPr>
          <a:lstStyle/>
          <a:p>
            <a:pPr algn="ctr" indent="0" marL="0">
              <a:buNone/>
              <a:defRPr dirty="0" lang="en-US" sz="1400"/>
            </a:pPr>
            <a:r>
              <a:rPr dirty="0" lang="en-US" sz="1000" u="sng"/>
              <a:t>   </a:t>
            </a:r>
            <a:r>
              <a:rPr dirty="0" lang="en-US" sz="1000" u="sng"/>
              <a:t>Case 2</a:t>
            </a:r>
            <a:r>
              <a:rPr dirty="0" lang="en-US" sz="1000" u="sng"/>
              <a:t>: </a:t>
            </a:r>
            <a:r>
              <a:rPr dirty="0" lang="en-US" sz="1000" u="sng"/>
              <a:t>False Alaram</a:t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algn="ctr" indent="0" marL="0">
              <a:buNone/>
              <a:defRPr dirty="0" lang="en-US" sz="1400"/>
            </a:pPr>
            <a:r>
              <a:rPr dirty="0" lang="en-US" sz="1000"/>
              <a:t>Customer Verification            </a:t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algn="ctr" indent="0" marL="0">
              <a:buNone/>
              <a:defRPr dirty="0" lang="en-US" sz="1400"/>
            </a:pPr>
            <a:r>
              <a:rPr dirty="0" lang="en-US" sz="1000"/>
              <a:t>OTP</a:t>
            </a:r>
            <a:r>
              <a:rPr dirty="0" lang="en-US" sz="1000"/>
              <a:t> Verify </a:t>
            </a:r>
            <a:r>
              <a:rPr dirty="0" lang="en-US" sz="1000"/>
              <a:t>           </a:t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indent="0" marL="0">
              <a:buNone/>
              <a:defRPr dirty="0" lang="en-US" sz="1400"/>
            </a:pPr>
            <a:r>
              <a:rPr dirty="0" lang="en-US" sz="1000"/>
              <a:t/>
            </a:r>
          </a:p>
          <a:p>
            <a:pPr algn="ctr" indent="0" marL="0">
              <a:buNone/>
              <a:defRPr dirty="0" lang="en-US" sz="1400"/>
            </a:pPr>
            <a:r>
              <a:rPr dirty="0" lang="en-US" sz="1000"/>
              <a:t>Temporary Block</a:t>
            </a:r>
          </a:p>
          <a:p>
            <a:pPr indent="0" lvl="1" marL="457200">
              <a:buNone/>
              <a:defRPr dirty="0" lang="en-US" sz="1400"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15" name="">
            <a:extLst>
              <a:ext uri="{4172631F-A334-4588-A9DE-C53317E145CD}">
                <a16:creationId xmlns:a16="http://schemas.microsoft.com/office/drawing/2010/main" id="{159CAB41-8AFE-4CCD-BD12-4CB25415B6C4}"/>
              </a:ext>
            </a:extLst>
          </p:cNvPr>
          <p:cNvSpPr/>
          <p:nvPr/>
        </p:nvSpPr>
        <p:spPr>
          <a:xfrm flipH="false" flipV="false" rot="0">
            <a:off x="7502042" y="2697946"/>
            <a:ext cx="156581" cy="262547"/>
          </a:xfrm>
          <a:prstGeom prst="downArrow">
            <a:avLst/>
          </a:prstGeom>
          <a:solidFill>
            <a:schemeClr val="tx1"/>
          </a:solidFill>
          <a:ln>
            <a:noFill/>
            <a:prstDash val="solid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6" name="">
            <a:extLst>
              <a:ext uri="{83D31723-15CD-41C7-8FC9-4AF1DA0DA814}">
                <a16:creationId xmlns:a16="http://schemas.microsoft.com/office/drawing/2010/main" id="{40C3B2AA-9B03-45E6-A8A3-B745D412D61C}"/>
              </a:ext>
            </a:extLst>
          </p:cNvPr>
          <p:cNvSpPr/>
          <p:nvPr/>
        </p:nvSpPr>
        <p:spPr>
          <a:xfrm flipH="false" flipV="false" rot="0">
            <a:off x="7502042" y="3394757"/>
            <a:ext cx="156581" cy="262547"/>
          </a:xfrm>
          <a:prstGeom prst="downArrow">
            <a:avLst/>
          </a:prstGeom>
          <a:solidFill>
            <a:schemeClr val="tx1"/>
          </a:solidFill>
          <a:ln>
            <a:noFill/>
            <a:prstDash val="solid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7" name="Arrow 16">
            <a:extLst>
              <a:ext uri="{A6D2B168-DD11-4501-82AF-F54490C74E1A}">
                <a16:creationId xmlns:a16="http://schemas.microsoft.com/office/drawing/2010/main" id="{2AF404B5-F6A0-41F4-9CFB-F92EDC5BBD6D}"/>
              </a:ext>
            </a:extLst>
          </p:cNvPr>
          <p:cNvSpPr/>
          <p:nvPr/>
        </p:nvSpPr>
        <p:spPr>
          <a:xfrm flipH="false" flipV="false" rot="0">
            <a:off x="7008838" y="4090997"/>
            <a:ext cx="1143000" cy="523875"/>
          </a:xfrm>
          <a:prstGeom prst="upArrowCallout">
            <a:avLst/>
          </a:prstGeom>
          <a:noFill/>
          <a:ln cap="flat" w="9525">
            <a:solidFill>
              <a:schemeClr val="accent1">
                <a:shade val="95000"/>
                <a:satMod val="104999"/>
              </a:schemeClr>
            </a:solidFill>
            <a:prstDash val="dash"/>
            <a:miter lim="800000"/>
          </a:ln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 algn="ctr"/>
            <a:r>
              <a:rPr dirty="0" lang="en-US"/>
              <a:t/>
            </a:r>
            <a:endParaRPr dirty="0" lang="en-US"/>
          </a:p>
        </p:txBody>
      </p:sp>
      <p:sp>
        <p:nvSpPr>
          <p:cNvPr id="18" name="Text Box 17">
            <a:extLst>
              <a:ext uri="{F5416B17-1E8E-485C-B583-ACC7EA99825E}">
                <a16:creationId xmlns:a16="http://schemas.microsoft.com/office/drawing/2010/main" id="{41C6F932-2B5C-40C1-BA0E-1E8DD7158304}"/>
              </a:ext>
            </a:extLst>
          </p:cNvPr>
          <p:cNvSpPr txBox="1"/>
          <p:nvPr/>
        </p:nvSpPr>
        <p:spPr>
          <a:xfrm flipH="false" flipV="false" rot="0">
            <a:off x="7008838" y="4276858"/>
            <a:ext cx="1143000" cy="27808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1" dirty="0" lang="en-US" sz="1200">
                <a:solidFill>
                  <a:srgbClr val="ff0000"/>
                </a:solidFill>
                <a:latin typeface="Open Sans"/>
              </a:rPr>
              <a:t>Type I Error</a:t>
            </a:r>
            <a:endParaRPr b="1" dirty="0" lang="en-US" sz="1200">
              <a:solidFill>
                <a:srgbClr val="ff0000"/>
              </a:solidFill>
              <a:latin typeface="Open Sans"/>
            </a:endParaRPr>
          </a:p>
        </p:txBody>
      </p:sp>
      <p:sp>
        <p:nvSpPr>
          <p:cNvPr id="19" name="Text Box 18">
            <a:extLst>
              <a:ext uri="{CCD83C3E-BC76-4B86-A097-62A5D5E96BAD}">
                <a16:creationId xmlns:a16="http://schemas.microsoft.com/office/drawing/2010/main" id="{1C522DB4-4B58-442F-BCD9-81FCBCCEBA2B}"/>
              </a:ext>
            </a:extLst>
          </p:cNvPr>
          <p:cNvSpPr txBox="1"/>
          <p:nvPr/>
        </p:nvSpPr>
        <p:spPr>
          <a:xfrm flipH="false" flipV="false" rot="0">
            <a:off x="469811" y="4130954"/>
            <a:ext cx="3297593" cy="704707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Char char=""/>
              <a:buFont typeface="Wingdings"/>
              <a:defRPr dirty="0" lang="en-US" sz="1400"/>
            </a:pPr>
            <a:r>
              <a:rPr dirty="0" lang="en-US" sz="800">
                <a:latin typeface="Lato"/>
              </a:rPr>
              <a:t>The </a:t>
            </a:r>
            <a:r>
              <a:rPr b="1" dirty="0" lang="en-US" sz="800">
                <a:latin typeface="Lato"/>
              </a:rPr>
              <a:t>worst-case error is Type II (False Negative)</a:t>
            </a:r>
            <a:r>
              <a:rPr dirty="0" lang="en-US" sz="800">
                <a:latin typeface="Lato"/>
              </a:rPr>
              <a:t>, where a fraudulent transaction is classified as legitimate. This can cause financial loss to both the </a:t>
            </a:r>
            <a:r>
              <a:rPr b="1" dirty="0" lang="en-US" sz="800">
                <a:latin typeface="Lato"/>
              </a:rPr>
              <a:t>customer and the bank</a:t>
            </a:r>
            <a:r>
              <a:rPr dirty="0" lang="en-US" sz="800">
                <a:latin typeface="Lato"/>
              </a:rPr>
              <a:t>. Therefore, the focus is on improving </a:t>
            </a:r>
            <a:r>
              <a:rPr b="1" dirty="0" lang="en-US" sz="800">
                <a:latin typeface="Lato"/>
              </a:rPr>
              <a:t>recall</a:t>
            </a:r>
            <a:r>
              <a:rPr dirty="0" lang="en-US" sz="800">
                <a:latin typeface="Lato"/>
              </a:rPr>
              <a:t> to detect as many fraud cases as possible.</a:t>
            </a:r>
            <a:endParaRPr dirty="0" lang="en-US" sz="800">
              <a:latin typeface="Lato"/>
            </a:endParaRPr>
          </a:p>
        </p:txBody>
      </p:sp>
    </p:spTree>
    <p:extLst>
      <p:ext uri="{81358A02-16EE-4A3F-AF18-07E0E62E4304}">
        <p14:creationId xmlns:p14="http://schemas.microsoft.com/office/powerpoint/2010/main" val="1772739933411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260F894-0FEA-4A3C-B874-35705C26E96E}">
                <a16:creationId xmlns:a16="http://schemas.microsoft.com/office/drawing/2010/main" id="{0EC4C591-634B-47D2-AD1D-26580792AEF6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/>
          <a:p>
            <a:pPr/>
            <a:r>
              <a:rPr dirty="0" lang="en-US"/>
              <a:t>Ordinal vs One-Hot Encoding</a:t>
            </a:r>
            <a:endParaRPr dirty="0" lang="en-US"/>
          </a:p>
        </p:txBody>
      </p:sp>
      <p:sp>
        <p:nvSpPr>
          <p:cNvPr id="3" name="Content Placeholder 2">
            <a:extLst>
              <a:ext uri="{6DCB20EF-3DBD-4793-90B1-5B55AFD14C0F}">
                <a16:creationId xmlns:a16="http://schemas.microsoft.com/office/drawing/2010/main" id="{43903E3A-6B8C-405C-92C2-5F7A560D3D48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1" y="1961540"/>
            <a:ext cx="3619500" cy="1739122"/>
          </a:xfrm>
          <a:ln cap="flat" w="11906">
            <a:solidFill>
              <a:schemeClr val="tx1"/>
            </a:solidFill>
            <a:prstDash val="solid"/>
            <a:round/>
          </a:ln>
          <a:effectLst/>
        </p:spPr>
        <p:txBody>
          <a:bodyPr anchor="t" rtlCol="0"/>
          <a:lstStyle/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Recall: 0.670</a:t>
            </a:r>
          </a:p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F1-score: 0.406</a:t>
            </a:r>
          </a:p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ROC-</a:t>
            </a:r>
            <a:r>
              <a:rPr b="1" dirty="0" lang="en-US" sz="700">
                <a:solidFill>
                  <a:schemeClr val="tx1"/>
                </a:solidFill>
                <a:latin typeface="Consolas"/>
              </a:rPr>
              <a:t>AUC</a:t>
            </a:r>
            <a:r>
              <a:rPr b="1" dirty="0" lang="en-US" sz="700">
                <a:solidFill>
                  <a:schemeClr val="tx1"/>
                </a:solidFill>
                <a:latin typeface="Consolas"/>
              </a:rPr>
              <a:t>: 0.8496</a:t>
            </a:r>
          </a:p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False Negatives: 569</a:t>
            </a:r>
          </a:p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False Positives: 2811</a:t>
            </a:r>
          </a:p>
          <a:p>
            <a:pPr indent="-342900" marL="342900">
              <a:lnSpc>
                <a:spcPct val="100000"/>
              </a:lnSpc>
              <a:buChar char=""/>
              <a:buFont typeface="Wingdings"/>
            </a:pPr>
            <a:r>
              <a:rPr b="0" dirty="0" lang="en-US" sz="700">
                <a:solidFill>
                  <a:schemeClr val="tx1"/>
                </a:solidFill>
                <a:latin typeface="Open Sans"/>
              </a:rPr>
              <a:t>One-hot encoding slightly improved the F1-score and reduced false positives. However, it resulted in lower recall and a higher number of false negatives compared to ordinal encoding.</a:t>
            </a:r>
            <a:endParaRPr b="0" dirty="0" lang="en-US" sz="700">
              <a:solidFill>
                <a:schemeClr val="tx1"/>
              </a:solidFill>
              <a:latin typeface="Open Sans"/>
            </a:endParaRPr>
          </a:p>
        </p:txBody>
      </p:sp>
      <p:sp>
        <p:nvSpPr>
          <p:cNvPr id="4" name="Content Placeholder 2">
            <a:extLst>
              <a:ext uri="{03DDB6B6-C664-4CBE-B6DB-3E2BF8E43940}">
                <a16:creationId xmlns:a16="http://schemas.microsoft.com/office/drawing/2010/main" id="{17510EE4-2EBB-4895-AA3E-A7BD892AA3E4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40"/>
            <a:ext cx="3619500" cy="1739122"/>
          </a:xfrm>
          <a:ln cap="flat" w="11906">
            <a:solidFill>
              <a:schemeClr val="tx1"/>
            </a:solidFill>
            <a:prstDash val="solid"/>
            <a:round/>
          </a:ln>
          <a:effectLst/>
        </p:spPr>
        <p:txBody>
          <a:bodyPr anchor="ctr" rtlCol="0"/>
          <a:lstStyle/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Recall: 0.738</a:t>
            </a:r>
          </a:p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F1-score: 0.401</a:t>
            </a:r>
          </a:p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ROC-</a:t>
            </a:r>
            <a:r>
              <a:rPr b="1" dirty="0" lang="en-US" sz="700">
                <a:solidFill>
                  <a:schemeClr val="tx1"/>
                </a:solidFill>
                <a:latin typeface="Consolas"/>
              </a:rPr>
              <a:t>AUC</a:t>
            </a:r>
            <a:r>
              <a:rPr b="1" dirty="0" lang="en-US" sz="700">
                <a:solidFill>
                  <a:schemeClr val="tx1"/>
                </a:solidFill>
                <a:latin typeface="Consolas"/>
              </a:rPr>
              <a:t>: 0.8526</a:t>
            </a:r>
          </a:p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False Negatives: 452</a:t>
            </a:r>
          </a:p>
          <a:p>
            <a:pPr indent="0" marL="0">
              <a:lnSpc>
                <a:spcPct val="70000"/>
              </a:lnSpc>
              <a:buNone/>
            </a:pPr>
            <a:r>
              <a:rPr b="1" dirty="0" lang="en-US" sz="700">
                <a:solidFill>
                  <a:schemeClr val="tx1"/>
                </a:solidFill>
                <a:latin typeface="Consolas"/>
              </a:rPr>
              <a:t>False Positives: 3347</a:t>
            </a:r>
          </a:p>
          <a:p>
            <a:pPr indent="-342900" marL="342900">
              <a:lnSpc>
                <a:spcPct val="100000"/>
              </a:lnSpc>
              <a:buChar char=""/>
              <a:buFont typeface="Wingdings"/>
            </a:pPr>
            <a:r>
              <a:rPr b="0" dirty="0" lang="en-US" sz="700">
                <a:solidFill>
                  <a:schemeClr val="tx1"/>
                </a:solidFill>
                <a:latin typeface="Open Sans"/>
              </a:rPr>
              <a:t>The model achieved higher recall with ordinal encoding, meaning it successfully identified a larger proportion of actual positive cases. It also produced a slightly higher ROC-AUC score, indicating strong class separation capability.</a:t>
            </a:r>
            <a:endParaRPr b="0" dirty="0" lang="en-US" sz="700">
              <a:solidFill>
                <a:schemeClr val="tx1"/>
              </a:solidFill>
              <a:latin typeface="Open Sans"/>
            </a:endParaRPr>
          </a:p>
        </p:txBody>
      </p:sp>
      <p:sp>
        <p:nvSpPr>
          <p:cNvPr id="5" name="Text Placeholder 2">
            <a:extLst>
              <a:ext uri="{2D8DABC6-E604-4B44-9687-C8BD10E790EB}">
                <a16:creationId xmlns:a16="http://schemas.microsoft.com/office/drawing/2010/main" id="{F81D5EC4-8B5C-459C-87CA-CF8557CBC4FC}"/>
              </a:ext>
            </a:extLst>
          </p:cNvPr>
          <p:cNvSpPr>
            <a:spLocks noGrp="true"/>
          </p:cNvSpPr>
          <p:nvPr>
            <p:ph type="body"/>
          </p:nvPr>
        </p:nvSpPr>
        <p:spPr/>
        <p:txBody>
          <a:bodyPr rtlCol="0"/>
          <a:lstStyle/>
          <a:p>
            <a:pPr algn="ctr"/>
            <a:r>
              <a:rPr dirty="0" lang="en-US" u="sng"/>
              <a:t>Ordinal Encoding</a:t>
            </a:r>
            <a:endParaRPr dirty="0" lang="en-US" u="sng"/>
          </a:p>
        </p:txBody>
      </p:sp>
      <p:sp>
        <p:nvSpPr>
          <p:cNvPr id="6" name="Text Placeholder 4">
            <a:extLst>
              <a:ext uri="{C3173E91-FB43-457A-B8B8-42ED355DB2FF}">
                <a16:creationId xmlns:a16="http://schemas.microsoft.com/office/drawing/2010/main" id="{884D9072-13CF-4E42-AC9F-3A7806EC8FBB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/>
          <a:lstStyle/>
          <a:p>
            <a:pPr algn="ctr"/>
            <a:r>
              <a:rPr dirty="0" lang="en-US" u="sng"/>
              <a:t>One-Hot Encoding</a:t>
            </a:r>
            <a:endParaRPr dirty="0" lang="en-US" u="sng"/>
          </a:p>
        </p:txBody>
      </p:sp>
      <p:sp>
        <p:nvSpPr>
          <p:cNvPr id="7" name="Text Box 6">
            <a:extLst>
              <a:ext uri="{E91E25C9-841B-4599-BC03-A96228817C62}">
                <a16:creationId xmlns:a16="http://schemas.microsoft.com/office/drawing/2010/main" id="{9A28BFAC-4838-4FE8-BE87-B637BC711BB5}"/>
              </a:ext>
            </a:extLst>
          </p:cNvPr>
          <p:cNvSpPr txBox="1"/>
          <p:nvPr/>
        </p:nvSpPr>
        <p:spPr>
          <a:xfrm flipH="false" flipV="false" rot="0">
            <a:off x="762000" y="4016044"/>
            <a:ext cx="6358137" cy="765638"/>
          </a:xfrm>
          <a:prstGeom prst="rect">
            <a:avLst/>
          </a:prstGeom>
          <a:ln cap="flat" w="28575">
            <a:solidFill>
              <a:schemeClr val="bg1">
                <a:lumMod val="65000"/>
              </a:schemeClr>
            </a:solidFill>
            <a:prstDash val="solid"/>
            <a:round/>
          </a:ln>
          <a:effectLst/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1" dirty="0" lang="en-US" sz="1200">
                <a:latin typeface="Consolas"/>
              </a:rPr>
              <a:t>Final Decision:</a:t>
            </a:r>
          </a:p>
          <a:p>
            <a:pPr>
              <a:defRPr dirty="0" lang="en-US" sz="1400"/>
            </a:pPr>
            <a:r>
              <a:rPr b="1" dirty="0" lang="en-US" sz="1200">
                <a:latin typeface="Consolas"/>
              </a:rPr>
              <a:t/>
            </a:r>
          </a:p>
          <a:p>
            <a:pPr lvl="1">
              <a:defRPr dirty="0" lang="en-US" sz="1400"/>
            </a:pPr>
            <a:r>
              <a:rPr b="1" dirty="0" lang="en-US" sz="1000">
                <a:latin typeface="Consolas"/>
              </a:rPr>
              <a:t>Considering the higher recall, better ROC-AUC score, and lower number of false negatives, Ordinal Encoding was selected as the final encoding technique.</a:t>
            </a:r>
            <a:endParaRPr b="1" dirty="0" lang="en-US" sz="1000">
              <a:latin typeface="Consolas"/>
            </a:endParaRPr>
          </a:p>
        </p:txBody>
      </p:sp>
    </p:spTree>
    <p:extLst>
      <p:ext uri="{D860126D-2DF8-4EC3-8713-0B721B034C01}">
        <p14:creationId xmlns:p14="http://schemas.microsoft.com/office/powerpoint/2010/main" val="1772739933413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26DCBBD-08D9-4B70-9DD2-FAFF96C23ABE}">
                <a16:creationId xmlns:a16="http://schemas.microsoft.com/office/drawing/2010/main" id="{56A9EC27-C354-4CDB-8226-8AA8152439A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b="1" dirty="0" lang="en-US">
                <a:latin typeface="Consolas"/>
              </a:rPr>
              <a:t>Threshold Tuning</a:t>
            </a:r>
            <a:endParaRPr b="1" dirty="0" lang="en-US">
              <a:latin typeface="Consolas"/>
            </a:endParaRPr>
          </a:p>
        </p:txBody>
      </p:sp>
      <p:sp>
        <p:nvSpPr>
          <p:cNvPr id="3" name="Content Placeholder 2">
            <a:extLst>
              <a:ext uri="{71FCBB30-BF1D-48C6-B96D-FAF337C23082}">
                <a16:creationId xmlns:a16="http://schemas.microsoft.com/office/drawing/2010/main" id="{A5FED808-6095-43FB-B508-9439A236C8F4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/>
            <a:r>
              <a:rPr dirty="0" lang="en-US" sz="1000">
                <a:latin typeface="Lato"/>
              </a:rPr>
              <a:t>For this project, the </a:t>
            </a:r>
            <a:r>
              <a:rPr b="1" dirty="0" lang="en-US" sz="1000">
                <a:latin typeface="Lato"/>
              </a:rPr>
              <a:t>classification threshold was adjusted to optimize fraud detection performance</a:t>
            </a:r>
            <a:r>
              <a:rPr dirty="0" lang="en-US" sz="1000">
                <a:latin typeface="Lato"/>
              </a:rPr>
              <a:t> instead of using the default value of 0.5.</a:t>
            </a:r>
          </a:p>
          <a:p>
            <a:pPr/>
            <a:r>
              <a:rPr dirty="0" lang="en-US" sz="1000">
                <a:latin typeface="Lato"/>
              </a:rPr>
              <a:t/>
            </a:r>
            <a:endParaRPr dirty="0" lang="en-US" sz="1000">
              <a:latin typeface="Lato"/>
            </a:endParaRPr>
          </a:p>
        </p:txBody>
      </p:sp>
      <p:pic>
        <p:nvPicPr>
          <p:cNvPr id="4" name="Image 3">
            <a:extLst>
              <a:ext uri="{088E4A6A-E8B2-4071-8640-E20D42A4051B}">
                <a16:creationId xmlns:a16="http://schemas.microsoft.com/office/drawing/2010/main" id="{0C2C6BE2-04F7-41E8-84E5-925EADC365E8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4810772" y="1788166"/>
            <a:ext cx="3571227" cy="2865806"/>
          </a:xfrm>
          <a:prstGeom prst="rect">
            <a:avLst/>
          </a:prstGeom>
          <a:noFill/>
        </p:spPr>
      </p:pic>
      <p:sp>
        <p:nvSpPr>
          <p:cNvPr id="5" name="Text Box 4">
            <a:extLst>
              <a:ext uri="{EE0861C6-53E0-419D-B1E5-6B80F0C21E05}">
                <a16:creationId xmlns:a16="http://schemas.microsoft.com/office/drawing/2010/main" id="{14464DC4-EFC8-4915-890B-25EA9C498696}"/>
              </a:ext>
            </a:extLst>
          </p:cNvPr>
          <p:cNvSpPr txBox="1"/>
          <p:nvPr/>
        </p:nvSpPr>
        <p:spPr>
          <a:xfrm flipH="false" flipV="false" rot="0">
            <a:off x="762000" y="2400795"/>
            <a:ext cx="3531203" cy="1771192"/>
          </a:xfrm>
          <a:prstGeom prst="rect">
            <a:avLst/>
          </a:prstGeom>
          <a:ln cap="flat" w="28575">
            <a:solidFill>
              <a:schemeClr val="bg1">
                <a:lumMod val="50000"/>
              </a:schemeClr>
            </a:solidFill>
            <a:prstDash val="solid"/>
            <a:round/>
          </a:ln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Char char=""/>
              <a:buFont typeface="Wingdings"/>
              <a:defRPr dirty="0" lang="en-US" sz="1400"/>
            </a:pPr>
            <a:r>
              <a:rPr dirty="0" lang="en-US" sz="900">
                <a:latin typeface="Lato"/>
              </a:rPr>
              <a:t>From the graph, the best balance occurs around a </a:t>
            </a:r>
            <a:r>
              <a:rPr b="1" dirty="0" lang="en-US" sz="900">
                <a:latin typeface="Lato"/>
              </a:rPr>
              <a:t>threshold of approximately 0.6–0.65</a:t>
            </a:r>
            <a:r>
              <a:rPr dirty="0" lang="en-US" sz="900">
                <a:latin typeface="Lato"/>
              </a:rPr>
              <a:t>. At this range, the model maintains a </a:t>
            </a:r>
            <a:r>
              <a:rPr b="1" dirty="0" lang="en-US" sz="900">
                <a:latin typeface="Lato"/>
              </a:rPr>
              <a:t>good recall while improving precision</a:t>
            </a:r>
            <a:r>
              <a:rPr dirty="0" lang="en-US" sz="900">
                <a:latin typeface="Lato"/>
              </a:rPr>
              <a:t>, which results in a relatively higher </a:t>
            </a:r>
            <a:r>
              <a:rPr b="1" dirty="0" lang="en-US" sz="900">
                <a:latin typeface="Lato"/>
              </a:rPr>
              <a:t>F1-score</a:t>
            </a:r>
            <a:r>
              <a:rPr dirty="0" lang="en-US" sz="900">
                <a:latin typeface="Lato"/>
              </a:rPr>
              <a:t>.</a:t>
            </a:r>
          </a:p>
          <a:p>
            <a:pPr indent="-342900" marL="342900">
              <a:buChar char=""/>
              <a:buFont typeface="Wingdings"/>
              <a:defRPr dirty="0" lang="en-US" sz="1400"/>
            </a:pPr>
            <a:r>
              <a:rPr dirty="0" lang="en-US" sz="1000">
                <a:latin typeface="Lato"/>
              </a:rPr>
              <a:t/>
            </a:r>
          </a:p>
          <a:p>
            <a:pPr indent="-342900" marL="342900">
              <a:buChar char=""/>
              <a:buFont typeface="Wingdings"/>
              <a:defRPr dirty="0" lang="en-US" sz="1400"/>
            </a:pPr>
            <a:r>
              <a:rPr dirty="0" lang="en-US" sz="900">
                <a:latin typeface="Lato"/>
              </a:rPr>
              <a:t>This threshold helps the model </a:t>
            </a:r>
            <a:r>
              <a:rPr b="1" dirty="0" lang="en-US" sz="900">
                <a:latin typeface="Lato"/>
              </a:rPr>
              <a:t>detect more </a:t>
            </a:r>
            <a:r>
              <a:rPr b="1" dirty="0" lang="en-US" sz="900">
                <a:latin typeface="Lato"/>
              </a:rPr>
              <a:t>fraudulent transactions while keeping false positives at a manageable level</a:t>
            </a:r>
            <a:r>
              <a:rPr dirty="0" lang="en-US" sz="900">
                <a:latin typeface="Lato"/>
              </a:rPr>
              <a:t>, making it suitable for the fraud detection objective.</a:t>
            </a:r>
          </a:p>
          <a:p>
            <a:pPr indent="-342900" marL="342900">
              <a:buChar char=""/>
              <a:buFont typeface="Wingdings"/>
              <a:defRPr dirty="0" lang="en-US" sz="1400"/>
            </a:pPr>
            <a:r>
              <a:rPr dirty="0" lang="en-US" sz="1000">
                <a:latin typeface="Lato"/>
              </a:rPr>
              <a:t/>
            </a:r>
          </a:p>
          <a:p>
            <a:pPr indent="-342900" marL="342900">
              <a:buChar char=""/>
              <a:buFont typeface="Wingdings"/>
              <a:defRPr dirty="0" lang="en-US" sz="1400"/>
            </a:pPr>
            <a:r>
              <a:rPr dirty="0" lang="en-US" sz="900">
                <a:latin typeface="Lato"/>
              </a:rPr>
              <a:t>Based on threshold analysis, </a:t>
            </a:r>
            <a:r>
              <a:rPr b="1" dirty="0" lang="en-US" sz="900">
                <a:latin typeface="Lato"/>
              </a:rPr>
              <a:t>0.5 was selected</a:t>
            </a:r>
            <a:r>
              <a:rPr dirty="0" lang="en-US" sz="900">
                <a:latin typeface="Lato"/>
              </a:rPr>
              <a:t> as it maximized the F1-score while maintaining a reasonable balance between precision and recall.</a:t>
            </a:r>
            <a:endParaRPr dirty="0" lang="en-US" sz="900">
              <a:latin typeface="Lato"/>
            </a:endParaRPr>
          </a:p>
        </p:txBody>
      </p:sp>
    </p:spTree>
    <p:extLst>
      <p:ext uri="{D3EAA084-2CE3-48F6-9294-3BD9BE3668FB}">
        <p14:creationId xmlns:p14="http://schemas.microsoft.com/office/powerpoint/2010/main" val="1772739933414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20786AD-AB76-4BD3-8522-DDF58A2B0C38}">
                <a16:creationId xmlns:a16="http://schemas.microsoft.com/office/drawing/2010/main" id="{E091B03C-81E8-4C2A-BA39-9700063A4E1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Final Model</a:t>
            </a:r>
            <a:endParaRPr dirty="0" lang="en-US"/>
          </a:p>
        </p:txBody>
      </p:sp>
      <p:sp>
        <p:nvSpPr>
          <p:cNvPr id="3" name="Content Placeholder 2">
            <a:extLst>
              <a:ext uri="{0EE2ADC8-1DCD-455D-850F-F0DACB6D5F1E}">
                <a16:creationId xmlns:a16="http://schemas.microsoft.com/office/drawing/2010/main" id="{B33BF630-C2A0-4229-84A8-6F63CB193C1F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28750"/>
            <a:ext cx="7620000" cy="3394300"/>
          </a:xfrm>
        </p:spPr>
        <p:txBody>
          <a:bodyPr rtlCol="0">
            <a:normAutofit fontScale="47500" lnSpcReduction="20000"/>
          </a:bodyPr>
          <a:lstStyle/>
          <a:p>
            <a:pPr>
              <a:lnSpc>
                <a:spcPct val="135000"/>
              </a:lnSpc>
            </a:pPr>
            <a:r>
              <a:rPr dirty="0" lang="en-US" sz="2000">
                <a:latin typeface="Lato"/>
              </a:rPr>
              <a:t>For the </a:t>
            </a:r>
            <a:r>
              <a:rPr b="1" dirty="0" lang="en-US" sz="2000">
                <a:latin typeface="Lato"/>
              </a:rPr>
              <a:t>final model</a:t>
            </a:r>
            <a:r>
              <a:rPr dirty="0" lang="en-US" sz="2000">
                <a:latin typeface="Lato"/>
              </a:rPr>
              <a:t>, a </a:t>
            </a:r>
            <a:r>
              <a:rPr b="1" dirty="0" lang="en-US" sz="2000">
                <a:latin typeface="Lato"/>
              </a:rPr>
              <a:t>Gradient Boosting classifier</a:t>
            </a:r>
            <a:r>
              <a:rPr dirty="0" lang="en-US" sz="2000">
                <a:latin typeface="Lato"/>
              </a:rPr>
              <a:t> was used within a machine learning pipeline. The pipeline integrates </a:t>
            </a:r>
            <a:r>
              <a:rPr b="1" dirty="0" lang="en-US" sz="2000">
                <a:latin typeface="Lato"/>
              </a:rPr>
              <a:t>data preprocessing, class imbalance handling using SMOTE, and model training</a:t>
            </a:r>
            <a:r>
              <a:rPr dirty="0" lang="en-US" sz="2000">
                <a:latin typeface="Lato"/>
              </a:rPr>
              <a:t> into a single workflow, ensuring consistent data transformation and preventing data leakage.</a:t>
            </a:r>
          </a:p>
          <a:p>
            <a:pPr lvl="1">
              <a:lnSpc>
                <a:spcPct val="135000"/>
              </a:lnSpc>
              <a:buChar char=""/>
              <a:buFont typeface="Wingdings"/>
            </a:pPr>
            <a:r>
              <a:rPr b="1" dirty="0" lang="en-US" sz="2000">
                <a:solidFill>
                  <a:schemeClr val="tx1"/>
                </a:solidFill>
                <a:latin typeface="Lato"/>
              </a:rPr>
              <a:t>Recall:</a:t>
            </a:r>
            <a:r>
              <a:rPr b="1" dirty="0" lang="en-US" sz="2000">
                <a:solidFill>
                  <a:schemeClr val="tx1"/>
                </a:solidFill>
                <a:latin typeface="Lato"/>
              </a:rPr>
              <a:t> 0.738</a:t>
            </a:r>
          </a:p>
          <a:p>
            <a:pPr lvl="1">
              <a:lnSpc>
                <a:spcPct val="135000"/>
              </a:lnSpc>
              <a:buChar char=""/>
              <a:buFont typeface="Wingdings"/>
            </a:pPr>
            <a:r>
              <a:rPr b="1" dirty="0" lang="en-US" sz="2000">
                <a:solidFill>
                  <a:schemeClr val="tx1"/>
                </a:solidFill>
                <a:latin typeface="Lato"/>
              </a:rPr>
              <a:t>Precision:</a:t>
            </a:r>
            <a:r>
              <a:rPr b="1" dirty="0" lang="en-US" sz="2000">
                <a:solidFill>
                  <a:schemeClr val="tx1"/>
                </a:solidFill>
                <a:latin typeface="Lato"/>
              </a:rPr>
              <a:t> 0.276</a:t>
            </a:r>
          </a:p>
          <a:p>
            <a:pPr lvl="1">
              <a:lnSpc>
                <a:spcPct val="135000"/>
              </a:lnSpc>
              <a:buChar char=""/>
              <a:buFont typeface="Wingdings"/>
            </a:pPr>
            <a:r>
              <a:rPr b="1" dirty="0" lang="en-US" sz="2000">
                <a:solidFill>
                  <a:schemeClr val="tx1"/>
                </a:solidFill>
                <a:latin typeface="Lato"/>
              </a:rPr>
              <a:t>F1-Score:</a:t>
            </a:r>
            <a:r>
              <a:rPr b="1" dirty="0" lang="en-US" sz="2000">
                <a:solidFill>
                  <a:schemeClr val="tx1"/>
                </a:solidFill>
                <a:latin typeface="Lato"/>
              </a:rPr>
              <a:t> 0.401</a:t>
            </a:r>
          </a:p>
          <a:p>
            <a:pPr lvl="1">
              <a:lnSpc>
                <a:spcPct val="135000"/>
              </a:lnSpc>
              <a:buChar char=""/>
              <a:buFont typeface="Wingdings"/>
            </a:pPr>
            <a:r>
              <a:rPr b="1" dirty="0" lang="en-US" sz="2000">
                <a:solidFill>
                  <a:schemeClr val="tx1"/>
                </a:solidFill>
                <a:latin typeface="Lato"/>
              </a:rPr>
              <a:t>ROC–AUC:</a:t>
            </a:r>
            <a:r>
              <a:rPr b="1" dirty="0" lang="en-US" sz="2000">
                <a:solidFill>
                  <a:schemeClr val="tx1"/>
                </a:solidFill>
                <a:latin typeface="Lato"/>
              </a:rPr>
              <a:t> 0.853</a:t>
            </a:r>
          </a:p>
          <a:p>
            <a:pPr>
              <a:lnSpc>
                <a:spcPct val="135000"/>
              </a:lnSpc>
            </a:pPr>
            <a:r>
              <a:rPr dirty="0" lang="en-US" sz="2000">
                <a:latin typeface="Lato"/>
              </a:rPr>
              <a:t>The confusion matrix shows that the model correctly identified </a:t>
            </a:r>
            <a:r>
              <a:rPr b="1" dirty="0" lang="en-US" sz="2000">
                <a:latin typeface="Lato"/>
              </a:rPr>
              <a:t>1,273 fraudulent transactions (True Positives)</a:t>
            </a:r>
            <a:r>
              <a:rPr dirty="0" lang="en-US" sz="2000">
                <a:latin typeface="Lato"/>
              </a:rPr>
              <a:t> while </a:t>
            </a:r>
            <a:r>
              <a:rPr b="1" dirty="0" lang="en-US" sz="2000">
                <a:latin typeface="Lato"/>
              </a:rPr>
              <a:t>452 fraud cases were missed (False Negatives)</a:t>
            </a:r>
            <a:r>
              <a:rPr dirty="0" lang="en-US" sz="2000">
                <a:latin typeface="Lato"/>
              </a:rPr>
              <a:t>. For legitimate transactions, </a:t>
            </a:r>
            <a:r>
              <a:rPr b="1" dirty="0" lang="en-US" sz="2000">
                <a:latin typeface="Lato"/>
              </a:rPr>
              <a:t>11,521 were correctly classified (True Negatives)</a:t>
            </a:r>
            <a:r>
              <a:rPr dirty="0" lang="en-US" sz="2000">
                <a:latin typeface="Lato"/>
              </a:rPr>
              <a:t>, while </a:t>
            </a:r>
            <a:r>
              <a:rPr b="1" dirty="0" lang="en-US" sz="2000">
                <a:latin typeface="Lato"/>
              </a:rPr>
              <a:t>3,347 were incorrectly flagged as fraud (False Positives)</a:t>
            </a:r>
            <a:r>
              <a:rPr dirty="0" lang="en-US" sz="2000">
                <a:latin typeface="Lato"/>
              </a:rPr>
              <a:t>.</a:t>
            </a:r>
          </a:p>
          <a:p>
            <a:pPr>
              <a:lnSpc>
                <a:spcPct val="135000"/>
              </a:lnSpc>
            </a:pPr>
            <a:r>
              <a:rPr dirty="0" lang="en-US" sz="2000">
                <a:latin typeface="Lato"/>
              </a:rPr>
              <a:t>Since the primary objective of this project is </a:t>
            </a:r>
            <a:r>
              <a:rPr b="1" dirty="0" lang="en-US" sz="2000">
                <a:latin typeface="Lato"/>
              </a:rPr>
              <a:t>fraud detection</a:t>
            </a:r>
            <a:r>
              <a:rPr dirty="0" lang="en-US" sz="2000">
                <a:latin typeface="Lato"/>
              </a:rPr>
              <a:t>, the model prioritizes </a:t>
            </a:r>
            <a:r>
              <a:rPr b="1" dirty="0" lang="en-US" sz="2000">
                <a:latin typeface="Lato"/>
              </a:rPr>
              <a:t>higher recall</a:t>
            </a:r>
            <a:r>
              <a:rPr dirty="0" lang="en-US" sz="2000">
                <a:latin typeface="Lato"/>
              </a:rPr>
              <a:t> to capture as many fraudulent transactions as possible. Although this leads to a higher number of false positives, it significantly reduces the risk of </a:t>
            </a:r>
            <a:r>
              <a:rPr b="1" dirty="0" lang="en-US" sz="2000">
                <a:latin typeface="Lato"/>
              </a:rPr>
              <a:t>undetected fraud</a:t>
            </a:r>
            <a:r>
              <a:rPr dirty="0" lang="en-US" sz="2000">
                <a:latin typeface="Lato"/>
              </a:rPr>
              <a:t>, which is more critical for both customers and financial institutions.</a:t>
            </a:r>
            <a:r>
              <a:rPr dirty="0" lang="en-US" sz="1200">
                <a:latin typeface="Lato"/>
              </a:rPr>
              <a:t> </a:t>
            </a:r>
          </a:p>
          <a:p>
            <a:pPr/>
            <a:r>
              <a:rPr dirty="0" lang="en-US" sz="1000">
                <a:latin typeface="Lato"/>
              </a:rPr>
              <a:t/>
            </a:r>
          </a:p>
          <a:p>
            <a:pPr lvl="1">
              <a:buChar char=""/>
              <a:buFont typeface="Wingdings"/>
            </a:pPr>
            <a:r>
              <a:rPr dirty="0" lang="en-US"/>
              <a:t/>
            </a:r>
          </a:p>
          <a:p>
            <a:pPr indent="0" lvl="1" marL="457200">
              <a:buNone/>
            </a:pPr>
            <a:r>
              <a:rPr dirty="0" lang="en-US" sz="1000">
                <a:solidFill>
                  <a:schemeClr val="tx1"/>
                </a:solidFill>
                <a:latin typeface="Lato"/>
              </a:rPr>
              <a:t/>
            </a:r>
            <a:endParaRPr dirty="0" lang="en-US" sz="1000">
              <a:solidFill>
                <a:schemeClr val="tx1"/>
              </a:solidFill>
              <a:latin typeface="Lato"/>
            </a:endParaRPr>
          </a:p>
        </p:txBody>
      </p:sp>
      <p:pic>
        <p:nvPicPr>
          <p:cNvPr id="4" name="Image 3">
            <a:extLst>
              <a:ext uri="{8C351660-16BD-4168-A86D-D3A2E5BBA03C}">
                <a16:creationId xmlns:a16="http://schemas.microsoft.com/office/drawing/2010/main" id="{99F3C0DB-2EA1-4C60-BD03-0EE6EB3CFDB6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3568341" y="480793"/>
            <a:ext cx="946832" cy="946832"/>
          </a:xfrm>
          <a:prstGeom prst="rect">
            <a:avLst/>
          </a:prstGeom>
          <a:noFill/>
        </p:spPr>
      </p:pic>
    </p:spTree>
    <p:extLst>
      <p:ext uri="{E9600F77-DA3C-4933-94AF-8818A7637345}">
        <p14:creationId xmlns:p14="http://schemas.microsoft.com/office/powerpoint/2010/main" val="1772739933415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1A40571-5CD3-4715-8BAA-12930A8BDB86}">
                <a16:creationId xmlns:a16="http://schemas.microsoft.com/office/drawing/2010/main" id="{EADB2AC3-DBCB-41E8-BF78-09A91ED2FD0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Recommendation</a:t>
            </a:r>
            <a:endParaRPr dirty="0" lang="en-US"/>
          </a:p>
        </p:txBody>
      </p:sp>
      <p:sp>
        <p:nvSpPr>
          <p:cNvPr id="3" name="Content Placeholder 2">
            <a:extLst>
              <a:ext uri="{79432340-A82C-48C0-8B0C-FF4C3FD67992}">
                <a16:creationId xmlns:a16="http://schemas.microsoft.com/office/drawing/2010/main" id="{C9C8D01E-C2A0-4DFF-AC2F-07EE49027E64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57361" y="1405556"/>
            <a:ext cx="7620000" cy="3048000"/>
          </a:xfrm>
        </p:spPr>
        <p:txBody>
          <a:bodyPr rtlCol="0"/>
          <a:lstStyle/>
          <a:p>
            <a:pPr/>
            <a:r>
              <a:rPr b="1" dirty="0" lang="en-US" sz="1000">
                <a:latin typeface="Lato"/>
              </a:rPr>
              <a:t>Threshold-Based Risk Strategy:</a:t>
            </a:r>
          </a:p>
          <a:p>
            <a:pPr lvl="2"/>
            <a:r>
              <a:rPr b="0" dirty="0" lang="en-US" sz="1000">
                <a:solidFill>
                  <a:schemeClr val="tx1"/>
                </a:solidFill>
                <a:latin typeface="Lato"/>
              </a:rPr>
              <a:t>The model outputs a 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fraud probability between 0 and 1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, so choosing the correct 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decision threshold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 is important.</a:t>
            </a:r>
          </a:p>
          <a:p>
            <a:pPr lvl="2"/>
            <a:r>
              <a:rPr b="0" dirty="0" lang="en-US" sz="1000">
                <a:solidFill>
                  <a:schemeClr val="tx1"/>
                </a:solidFill>
                <a:latin typeface="Lato"/>
              </a:rPr>
              <a:t>Different thresholds are recommended for different risk levels:</a:t>
            </a:r>
          </a:p>
          <a:p>
            <a:pPr lvl="3">
              <a:buChar char=""/>
              <a:buFont typeface="Wingdings"/>
            </a:pPr>
            <a:r>
              <a:rPr b="1" dirty="0" lang="en-US" sz="1000">
                <a:solidFill>
                  <a:schemeClr val="tx1"/>
                </a:solidFill>
                <a:latin typeface="Lato"/>
              </a:rPr>
              <a:t>Low Friction (0.70):</a:t>
            </a:r>
            <a:r>
              <a:rPr b="1" dirty="0" lang="en-US" sz="1000">
                <a:solidFill>
                  <a:schemeClr val="tx1"/>
                </a:solidFill>
                <a:latin typeface="Lato"/>
              </a:rPr>
              <a:t> 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Prioritizes customer experience with fewer fraud alerts.</a:t>
            </a:r>
          </a:p>
          <a:p>
            <a:pPr lvl="3">
              <a:buChar char=""/>
              <a:buFont typeface="Wingdings"/>
            </a:pPr>
            <a:r>
              <a:rPr b="1" dirty="0" lang="en-US" sz="1000">
                <a:solidFill>
                  <a:schemeClr val="tx1"/>
                </a:solidFill>
                <a:latin typeface="Lato"/>
              </a:rPr>
              <a:t>Balanced (0.50):</a:t>
            </a:r>
            <a:r>
              <a:rPr b="1" dirty="0" lang="en-US" sz="1000">
                <a:solidFill>
                  <a:schemeClr val="tx1"/>
                </a:solidFill>
                <a:latin typeface="Lato"/>
              </a:rPr>
              <a:t> 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Provides a balance between fraud detection and customer convenience.</a:t>
            </a:r>
          </a:p>
          <a:p>
            <a:pPr lvl="3">
              <a:buChar char=""/>
              <a:buFont typeface="Wingdings"/>
            </a:pPr>
            <a:r>
              <a:rPr b="1" dirty="0" lang="en-US" sz="1000">
                <a:solidFill>
                  <a:schemeClr val="tx1"/>
                </a:solidFill>
                <a:latin typeface="Lato"/>
              </a:rPr>
              <a:t>Maximum Security (0.30):</a:t>
            </a:r>
            <a:r>
              <a:rPr b="1" dirty="0" lang="en-US" sz="1000">
                <a:solidFill>
                  <a:schemeClr val="tx1"/>
                </a:solidFill>
                <a:latin typeface="Lato"/>
              </a:rPr>
              <a:t> 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Prioritizes fraud detection by capturing almost all suspicious transactions.</a:t>
            </a:r>
          </a:p>
          <a:p>
            <a:pPr indent="0" lvl="3" marL="1371600">
              <a:buNone/>
            </a:pPr>
            <a:r>
              <a:rPr b="1" dirty="0" lang="en-US" sz="1000">
                <a:solidFill>
                  <a:schemeClr val="tx1"/>
                </a:solidFill>
                <a:latin typeface="Lato"/>
              </a:rPr>
              <a:t/>
            </a:r>
          </a:p>
          <a:p>
            <a:pPr lvl="2"/>
            <a:r>
              <a:rPr b="0" dirty="0" lang="en-US" sz="1000">
                <a:solidFill>
                  <a:schemeClr val="tx1"/>
                </a:solidFill>
                <a:latin typeface="Lato"/>
              </a:rPr>
              <a:t>This 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dynamic threshold strategy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 allows organizations to apply 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different security levels depending on transaction risk</a:t>
            </a:r>
            <a:r>
              <a:rPr b="0" dirty="0" lang="en-US" sz="1000">
                <a:solidFill>
                  <a:schemeClr val="tx1"/>
                </a:solidFill>
                <a:latin typeface="Lato"/>
              </a:rPr>
              <a:t>.</a:t>
            </a:r>
          </a:p>
          <a:p>
            <a:pPr indent="0" lvl="2" marL="914400">
              <a:buNone/>
            </a:pPr>
            <a:r>
              <a:rPr b="0" dirty="0" lang="en-US" sz="1000">
                <a:solidFill>
                  <a:schemeClr val="tx1"/>
                </a:solidFill>
                <a:latin typeface="Lato"/>
              </a:rPr>
              <a:t/>
            </a:r>
            <a:endParaRPr b="0" dirty="0" lang="en-US" sz="1000">
              <a:solidFill>
                <a:schemeClr val="tx1"/>
              </a:solidFill>
              <a:latin typeface="Lato"/>
            </a:endParaRPr>
          </a:p>
        </p:txBody>
      </p:sp>
      <p:sp>
        <p:nvSpPr>
          <p:cNvPr id="4" name="Text Box 3">
            <a:extLst>
              <a:ext uri="{2218E04B-5AE8-42B4-9AD4-F6F977A393CE}">
                <a16:creationId xmlns:a16="http://schemas.microsoft.com/office/drawing/2010/main" id="{9455E6B2-4541-4552-BC01-BC8C06F82C22}"/>
              </a:ext>
            </a:extLst>
          </p:cNvPr>
          <p:cNvSpPr txBox="1"/>
          <p:nvPr/>
        </p:nvSpPr>
        <p:spPr>
          <a:xfrm flipH="false" flipV="false" rot="0">
            <a:off x="762000" y="3282896"/>
            <a:ext cx="7620000" cy="1314145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Char char="•"/>
              <a:buClr>
                <a:srgbClr val="ff0000"/>
              </a:buClr>
              <a:buFont typeface="Arial"/>
              <a:defRPr dirty="0" lang="en-US" sz="1400"/>
            </a:pPr>
            <a:r>
              <a:rPr b="1" dirty="0" lang="en-US" sz="1000">
                <a:latin typeface="Lato"/>
              </a:rPr>
              <a:t>Rules Engine for Immediate Fraud Prevention:</a:t>
            </a:r>
          </a:p>
          <a:p>
            <a:pPr indent="-342900" lvl="1" marL="800100">
              <a:buChar char="-"/>
              <a:buClr>
                <a:schemeClr val="bg1">
                  <a:lumMod val="50000"/>
                </a:schemeClr>
              </a:buClr>
              <a:buFont typeface="Arial"/>
              <a:defRPr dirty="0" lang="en-US" sz="1400"/>
            </a:pPr>
            <a:r>
              <a:rPr b="0" dirty="0" lang="en-US" sz="1000">
                <a:latin typeface="Lato"/>
              </a:rPr>
              <a:t>In addition to the machine learning model, </a:t>
            </a:r>
            <a:r>
              <a:rPr b="0" dirty="0" lang="en-US" sz="1000">
                <a:latin typeface="Lato"/>
              </a:rPr>
              <a:t>hard security rules are recommended</a:t>
            </a:r>
            <a:r>
              <a:rPr b="0" dirty="0" lang="en-US" sz="1000">
                <a:latin typeface="Lato"/>
              </a:rPr>
              <a:t>.</a:t>
            </a:r>
          </a:p>
          <a:p>
            <a:pPr indent="-342900" lvl="1" marL="800100">
              <a:buChar char="-"/>
              <a:buClr>
                <a:schemeClr val="bg1">
                  <a:lumMod val="50000"/>
                </a:schemeClr>
              </a:buClr>
              <a:buFont typeface="Arial"/>
              <a:defRPr dirty="0" lang="en-US" sz="1400"/>
            </a:pPr>
            <a:r>
              <a:rPr b="0" dirty="0" lang="en-US" sz="1000">
                <a:latin typeface="Lato"/>
              </a:rPr>
              <a:t>These rules instantly block </a:t>
            </a:r>
            <a:r>
              <a:rPr b="0" dirty="0" lang="en-US" sz="1000">
                <a:latin typeface="Lato"/>
              </a:rPr>
              <a:t>obvious high-risk patterns</a:t>
            </a:r>
            <a:r>
              <a:rPr b="0" dirty="0" lang="en-US" sz="1000">
                <a:latin typeface="Lato"/>
              </a:rPr>
              <a:t> without waiting for model predictions.</a:t>
            </a:r>
          </a:p>
          <a:p>
            <a:pPr indent="-342900" lvl="1" marL="800100">
              <a:buChar char="-"/>
              <a:buClr>
                <a:schemeClr val="bg1">
                  <a:lumMod val="50000"/>
                </a:schemeClr>
              </a:buClr>
              <a:buFont typeface="Arial"/>
              <a:defRPr dirty="0" lang="en-US" sz="1400"/>
            </a:pPr>
            <a:r>
              <a:rPr b="0" dirty="0" lang="en-US" sz="1000">
                <a:latin typeface="Lato"/>
              </a:rPr>
              <a:t>Examples include:</a:t>
            </a:r>
          </a:p>
          <a:p>
            <a:pPr indent="-342900" lvl="2" marL="1257300">
              <a:buChar char=""/>
              <a:buClr>
                <a:schemeClr val="bg1">
                  <a:lumMod val="50000"/>
                </a:schemeClr>
              </a:buClr>
              <a:buFont typeface="Wingdings"/>
              <a:defRPr dirty="0" lang="en-US" sz="1400"/>
            </a:pPr>
            <a:r>
              <a:rPr b="0" dirty="0" lang="en-US" sz="1000">
                <a:latin typeface="Lato"/>
              </a:rPr>
              <a:t>High </a:t>
            </a:r>
            <a:r>
              <a:rPr b="0" dirty="0" lang="en-US" sz="1000">
                <a:latin typeface="Lato"/>
              </a:rPr>
              <a:t>IP risk score with low device trust</a:t>
            </a:r>
            <a:r>
              <a:rPr b="0" dirty="0" lang="en-US" sz="1000">
                <a:latin typeface="Lato"/>
              </a:rPr>
              <a:t>.</a:t>
            </a:r>
          </a:p>
          <a:p>
            <a:pPr indent="-342900" lvl="2" marL="1257300">
              <a:buChar char=""/>
              <a:buClr>
                <a:schemeClr val="bg1">
                  <a:lumMod val="50000"/>
                </a:schemeClr>
              </a:buClr>
              <a:buFont typeface="Wingdings"/>
              <a:defRPr dirty="0" lang="en-US" sz="1400"/>
            </a:pPr>
            <a:r>
              <a:rPr b="0" dirty="0" lang="en-US" sz="1000">
                <a:latin typeface="Lato"/>
              </a:rPr>
              <a:t>Transaction amount much higher than the customer’s normal behavior</a:t>
            </a:r>
            <a:r>
              <a:rPr b="0" dirty="0" lang="en-US" sz="1000">
                <a:latin typeface="Lato"/>
              </a:rPr>
              <a:t>.</a:t>
            </a:r>
          </a:p>
          <a:p>
            <a:pPr indent="-342900" lvl="2" marL="1257300">
              <a:buChar char=""/>
              <a:buClr>
                <a:schemeClr val="bg1">
                  <a:lumMod val="50000"/>
                </a:schemeClr>
              </a:buClr>
              <a:buFont typeface="Wingdings"/>
              <a:defRPr dirty="0" lang="en-US" sz="1400"/>
            </a:pPr>
            <a:r>
              <a:rPr b="0" dirty="0" lang="en-US" sz="1000">
                <a:latin typeface="Lato"/>
              </a:rPr>
              <a:t>New device with sudden location change</a:t>
            </a:r>
            <a:r>
              <a:rPr b="0" dirty="0" lang="en-US" sz="1000">
                <a:latin typeface="Lato"/>
              </a:rPr>
              <a:t>.</a:t>
            </a:r>
          </a:p>
          <a:p>
            <a:pPr indent="-342900" lvl="2" marL="1257300">
              <a:buChar char=""/>
              <a:buClr>
                <a:schemeClr val="bg1">
                  <a:lumMod val="50000"/>
                </a:schemeClr>
              </a:buClr>
              <a:buFont typeface="Wingdings"/>
              <a:defRPr dirty="0" lang="en-US" sz="1400"/>
            </a:pPr>
            <a:r>
              <a:rPr b="0" dirty="0" lang="en-US" sz="1000">
                <a:latin typeface="Lato"/>
              </a:rPr>
              <a:t>Merchants with historically high fraud rates</a:t>
            </a:r>
            <a:r>
              <a:rPr b="0" dirty="0" lang="en-US" sz="1000">
                <a:latin typeface="Lato"/>
              </a:rPr>
              <a:t>.</a:t>
            </a:r>
            <a:endParaRPr b="0" dirty="0" lang="en-US" sz="1000">
              <a:latin typeface="Lato"/>
            </a:endParaRPr>
          </a:p>
        </p:txBody>
      </p:sp>
    </p:spTree>
    <p:extLst>
      <p:ext uri="{C3C519B1-F97B-4134-9D06-FC37FB233C14}">
        <p14:creationId xmlns:p14="http://schemas.microsoft.com/office/powerpoint/2010/main" val="1772739933416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fontWeight:3:0:0" val="6"/>
  <p:tag name="fontWeight:2:0:0" val="6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4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7" val="Open Sans-demi_bold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Edgy">
  <a:themeElements>
    <a:clrScheme name="Edgy">
      <a:dk1>
        <a:srgbClr val="000000"/>
      </a:dk1>
      <a:lt1>
        <a:srgbClr val="ffffff"/>
      </a:lt1>
      <a:dk2>
        <a:srgbClr val="071314"/>
      </a:dk2>
      <a:lt2>
        <a:srgbClr val="ecf9fa"/>
      </a:lt2>
      <a:accent1>
        <a:srgbClr val="0961a3"/>
      </a:accent1>
      <a:accent2>
        <a:srgbClr val="54a7da"/>
      </a:accent2>
      <a:accent3>
        <a:srgbClr val="aadafb"/>
      </a:accent3>
      <a:accent4>
        <a:srgbClr val="7bafba"/>
      </a:accent4>
      <a:accent5>
        <a:srgbClr val="8eb7c1"/>
      </a:accent5>
      <a:accent6>
        <a:srgbClr val="1e7c96"/>
      </a:accent6>
      <a:hlink>
        <a:srgbClr val="0070c0"/>
      </a:hlink>
      <a:folHlink>
        <a:srgbClr val="00b0f0"/>
      </a:folHlink>
    </a:clrScheme>
    <a:fontScheme name="Edgy">
      <a:majorFont>
        <a:latin typeface="Cabin"/>
        <a:ea typeface=""/>
        <a:cs typeface=""/>
      </a:majorFont>
      <a:minorFont>
        <a:latin typeface="Open Sans"/>
        <a:ea typeface=""/>
        <a:cs typeface=""/>
      </a:minorFont>
    </a:fontScheme>
    <a:fmtScheme name="Edg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Edgy">
  <a:themeElements>
    <a:clrScheme name="Edgy">
      <a:dk1>
        <a:srgbClr val="000000"/>
      </a:dk1>
      <a:lt1>
        <a:srgbClr val="ffffff"/>
      </a:lt1>
      <a:dk2>
        <a:srgbClr val="071314"/>
      </a:dk2>
      <a:lt2>
        <a:srgbClr val="ecf9fa"/>
      </a:lt2>
      <a:accent1>
        <a:srgbClr val="0961a3"/>
      </a:accent1>
      <a:accent2>
        <a:srgbClr val="54a7da"/>
      </a:accent2>
      <a:accent3>
        <a:srgbClr val="aadafb"/>
      </a:accent3>
      <a:accent4>
        <a:srgbClr val="7bafba"/>
      </a:accent4>
      <a:accent5>
        <a:srgbClr val="8eb7c1"/>
      </a:accent5>
      <a:accent6>
        <a:srgbClr val="1e7c96"/>
      </a:accent6>
      <a:hlink>
        <a:srgbClr val="0070c0"/>
      </a:hlink>
      <a:folHlink>
        <a:srgbClr val="00b0f0"/>
      </a:folHlink>
    </a:clrScheme>
    <a:fontScheme name="Edgy">
      <a:majorFont>
        <a:latin typeface="Cabin"/>
        <a:ea typeface=""/>
        <a:cs typeface=""/>
      </a:majorFont>
      <a:minorFont>
        <a:latin typeface="Open Sans"/>
        <a:ea typeface=""/>
        <a:cs typeface=""/>
      </a:minorFont>
    </a:fontScheme>
    <a:fmtScheme name="Edg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2026-03-04T21:43:21Z</dcterms:created>
  <dcterms:modified xsi:type="dcterms:W3CDTF">2026-03-06T01:14:48Z</dcterms:modified>
</cp:coreProperties>
</file>